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E2761">
              <a:alpha val="60000"/>
            </a:srgbClr>
          </a:solidFill>
          <a:ln/>
        </p:spPr>
      </p:sp>
      <p:sp>
        <p:nvSpPr>
          <p:cNvPr id="3" name="Shape 1"/>
          <p:cNvSpPr/>
          <p:nvPr/>
        </p:nvSpPr>
        <p:spPr>
          <a:xfrm>
            <a:off x="9692640" y="-1188720"/>
            <a:ext cx="4297680" cy="4297680"/>
          </a:xfrm>
          <a:prstGeom prst="ellipse">
            <a:avLst/>
          </a:prstGeom>
          <a:solidFill>
            <a:srgbClr val="D4A24C">
              <a:alpha val="18000"/>
            </a:srgbClr>
          </a:solidFill>
          <a:ln/>
        </p:spPr>
      </p:sp>
      <p:sp>
        <p:nvSpPr>
          <p:cNvPr id="4" name="Shape 2"/>
          <p:cNvSpPr/>
          <p:nvPr/>
        </p:nvSpPr>
        <p:spPr>
          <a:xfrm>
            <a:off x="-2377440" y="4206240"/>
            <a:ext cx="4754880" cy="4754880"/>
          </a:xfrm>
          <a:prstGeom prst="ellipse">
            <a:avLst/>
          </a:prstGeom>
          <a:solidFill>
            <a:srgbClr val="1E2761">
              <a:alpha val="55000"/>
            </a:srgbClr>
          </a:solidFill>
          <a:ln/>
        </p:spPr>
      </p:sp>
      <p:sp>
        <p:nvSpPr>
          <p:cNvPr id="5" name="Text 3"/>
          <p:cNvSpPr/>
          <p:nvPr/>
        </p:nvSpPr>
        <p:spPr>
          <a:xfrm>
            <a:off x="731520" y="1965960"/>
            <a:ext cx="9601200" cy="365760"/>
          </a:xfrm>
          <a:prstGeom prst="rect">
            <a:avLst/>
          </a:prstGeom>
          <a:noFill/>
          <a:ln/>
        </p:spPr>
        <p:txBody>
          <a:bodyPr wrap="square" rtlCol="0" anchor="ctr"/>
          <a:lstStyle/>
          <a:p>
            <a:pPr indent="0" marL="0">
              <a:buNone/>
            </a:pPr>
            <a:r>
              <a:rPr lang="en-US" sz="1300" b="1" spc="200" kern="0" dirty="0">
                <a:solidFill>
                  <a:srgbClr val="D4A24C"/>
                </a:solidFill>
                <a:latin typeface="Calibri" pitchFamily="34" charset="0"/>
                <a:ea typeface="Calibri" pitchFamily="34" charset="-122"/>
                <a:cs typeface="Calibri" pitchFamily="34" charset="-120"/>
              </a:rPr>
              <a:t>BUSINESS ANALYTICS INTERNSHIP PROJECT  •  COGNIFYZ TECHNOLOGIES</a:t>
            </a:r>
            <a:endParaRPr lang="en-US" sz="1300" dirty="0"/>
          </a:p>
        </p:txBody>
      </p:sp>
      <p:sp>
        <p:nvSpPr>
          <p:cNvPr id="6" name="Text 4"/>
          <p:cNvSpPr/>
          <p:nvPr/>
        </p:nvSpPr>
        <p:spPr>
          <a:xfrm>
            <a:off x="731520" y="2377440"/>
            <a:ext cx="9875520" cy="1920240"/>
          </a:xfrm>
          <a:prstGeom prst="rect">
            <a:avLst/>
          </a:prstGeom>
          <a:noFill/>
          <a:ln/>
        </p:spPr>
        <p:txBody>
          <a:bodyPr wrap="square"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Investment Behavior &amp;</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Preference Analysis</a:t>
            </a:r>
            <a:endParaRPr lang="en-US" sz="4400" dirty="0"/>
          </a:p>
        </p:txBody>
      </p:sp>
      <p:sp>
        <p:nvSpPr>
          <p:cNvPr id="7" name="Text 5"/>
          <p:cNvSpPr/>
          <p:nvPr/>
        </p:nvSpPr>
        <p:spPr>
          <a:xfrm>
            <a:off x="731520" y="4343400"/>
            <a:ext cx="8961120" cy="731520"/>
          </a:xfrm>
          <a:prstGeom prst="rect">
            <a:avLst/>
          </a:prstGeom>
          <a:noFill/>
          <a:ln/>
        </p:spPr>
        <p:txBody>
          <a:bodyPr wrap="square" rtlCol="0" anchor="ctr"/>
          <a:lstStyle/>
          <a:p>
            <a:pPr indent="0" marL="0">
              <a:lnSpc>
                <a:spcPts val="2200"/>
              </a:lnSpc>
              <a:buNone/>
            </a:pPr>
            <a:r>
              <a:rPr lang="en-US" sz="1500" dirty="0">
                <a:solidFill>
                  <a:srgbClr val="CADCFC"/>
                </a:solidFill>
                <a:latin typeface="Calibri" pitchFamily="34" charset="0"/>
                <a:ea typeface="Calibri" pitchFamily="34" charset="-122"/>
                <a:cs typeface="Calibri" pitchFamily="34" charset="-120"/>
              </a:rPr>
              <a:t>A survey-based study of demographic patterns, investment preferences, savings</a:t>
            </a:r>
            <a:endParaRPr lang="en-US" sz="1500" dirty="0"/>
          </a:p>
          <a:p>
            <a:pPr indent="0" marL="0">
              <a:lnSpc>
                <a:spcPts val="2200"/>
              </a:lnSpc>
              <a:buNone/>
            </a:pPr>
            <a:r>
              <a:rPr lang="en-US" sz="1500" dirty="0">
                <a:solidFill>
                  <a:srgbClr val="CADCFC"/>
                </a:solidFill>
                <a:latin typeface="Calibri" pitchFamily="34" charset="0"/>
                <a:ea typeface="Calibri" pitchFamily="34" charset="-122"/>
                <a:cs typeface="Calibri" pitchFamily="34" charset="-120"/>
              </a:rPr>
              <a:t>objectives, and return expectations among 40 participants</a:t>
            </a:r>
            <a:endParaRPr lang="en-US" sz="1500" dirty="0"/>
          </a:p>
        </p:txBody>
      </p:sp>
      <p:sp>
        <p:nvSpPr>
          <p:cNvPr id="8" name="Text 6"/>
          <p:cNvSpPr/>
          <p:nvPr/>
        </p:nvSpPr>
        <p:spPr>
          <a:xfrm>
            <a:off x="731520" y="5806440"/>
            <a:ext cx="3108960" cy="457200"/>
          </a:xfrm>
          <a:prstGeom prst="rect">
            <a:avLst/>
          </a:prstGeom>
          <a:noFill/>
          <a:ln/>
        </p:spPr>
        <p:txBody>
          <a:bodyPr wrap="square" rtlCol="0" anchor="ctr"/>
          <a:lstStyle/>
          <a:p>
            <a:pPr indent="0" marL="0">
              <a:buNone/>
            </a:pPr>
            <a:r>
              <a:rPr lang="en-US" sz="2200" b="1" dirty="0">
                <a:solidFill>
                  <a:srgbClr val="D4A24C"/>
                </a:solidFill>
                <a:latin typeface="Cambria" pitchFamily="34" charset="0"/>
                <a:ea typeface="Cambria" pitchFamily="34" charset="-122"/>
                <a:cs typeface="Cambria" pitchFamily="34" charset="-120"/>
              </a:rPr>
              <a:t>40   </a:t>
            </a:r>
            <a:pPr indent="0" marL="0">
              <a:buNone/>
            </a:pPr>
            <a:r>
              <a:rPr lang="en-US" sz="1200" dirty="0">
                <a:solidFill>
                  <a:srgbClr val="CADCFC"/>
                </a:solidFill>
                <a:latin typeface="Calibri" pitchFamily="34" charset="0"/>
                <a:ea typeface="Calibri" pitchFamily="34" charset="-122"/>
                <a:cs typeface="Calibri" pitchFamily="34" charset="-120"/>
              </a:rPr>
              <a:t>Survey Participants</a:t>
            </a:r>
            <a:endParaRPr lang="en-US" sz="2200" dirty="0"/>
          </a:p>
        </p:txBody>
      </p:sp>
      <p:sp>
        <p:nvSpPr>
          <p:cNvPr id="9" name="Text 7"/>
          <p:cNvSpPr/>
          <p:nvPr/>
        </p:nvSpPr>
        <p:spPr>
          <a:xfrm>
            <a:off x="3931920" y="5806440"/>
            <a:ext cx="3108960" cy="457200"/>
          </a:xfrm>
          <a:prstGeom prst="rect">
            <a:avLst/>
          </a:prstGeom>
          <a:noFill/>
          <a:ln/>
        </p:spPr>
        <p:txBody>
          <a:bodyPr wrap="square" rtlCol="0" anchor="ctr"/>
          <a:lstStyle/>
          <a:p>
            <a:pPr indent="0" marL="0">
              <a:buNone/>
            </a:pPr>
            <a:r>
              <a:rPr lang="en-US" sz="2200" b="1" dirty="0">
                <a:solidFill>
                  <a:srgbClr val="D4A24C"/>
                </a:solidFill>
                <a:latin typeface="Cambria" pitchFamily="34" charset="0"/>
                <a:ea typeface="Cambria" pitchFamily="34" charset="-122"/>
                <a:cs typeface="Cambria" pitchFamily="34" charset="-120"/>
              </a:rPr>
              <a:t>24   </a:t>
            </a:r>
            <a:pPr indent="0" marL="0">
              <a:buNone/>
            </a:pPr>
            <a:r>
              <a:rPr lang="en-US" sz="1200" dirty="0">
                <a:solidFill>
                  <a:srgbClr val="CADCFC"/>
                </a:solidFill>
                <a:latin typeface="Calibri" pitchFamily="34" charset="0"/>
                <a:ea typeface="Calibri" pitchFamily="34" charset="-122"/>
                <a:cs typeface="Calibri" pitchFamily="34" charset="-120"/>
              </a:rPr>
              <a:t>Data Variables</a:t>
            </a:r>
            <a:endParaRPr lang="en-US" sz="2200" dirty="0"/>
          </a:p>
        </p:txBody>
      </p:sp>
      <p:sp>
        <p:nvSpPr>
          <p:cNvPr id="10" name="Text 8"/>
          <p:cNvSpPr/>
          <p:nvPr/>
        </p:nvSpPr>
        <p:spPr>
          <a:xfrm>
            <a:off x="7132320" y="5806440"/>
            <a:ext cx="3108960" cy="457200"/>
          </a:xfrm>
          <a:prstGeom prst="rect">
            <a:avLst/>
          </a:prstGeom>
          <a:noFill/>
          <a:ln/>
        </p:spPr>
        <p:txBody>
          <a:bodyPr wrap="square" rtlCol="0" anchor="ctr"/>
          <a:lstStyle/>
          <a:p>
            <a:pPr indent="0" marL="0">
              <a:buNone/>
            </a:pPr>
            <a:r>
              <a:rPr lang="en-US" sz="2200" b="1" dirty="0">
                <a:solidFill>
                  <a:srgbClr val="D4A24C"/>
                </a:solidFill>
                <a:latin typeface="Cambria" pitchFamily="34" charset="0"/>
                <a:ea typeface="Cambria" pitchFamily="34" charset="-122"/>
                <a:cs typeface="Cambria" pitchFamily="34" charset="-120"/>
              </a:rPr>
              <a:t>7   </a:t>
            </a:r>
            <a:pPr indent="0" marL="0">
              <a:buNone/>
            </a:pPr>
            <a:r>
              <a:rPr lang="en-US" sz="1200" dirty="0">
                <a:solidFill>
                  <a:srgbClr val="CADCFC"/>
                </a:solidFill>
                <a:latin typeface="Calibri" pitchFamily="34" charset="0"/>
                <a:ea typeface="Calibri" pitchFamily="34" charset="-122"/>
                <a:cs typeface="Calibri" pitchFamily="34" charset="-120"/>
              </a:rPr>
              <a:t>Investment Instruments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We'll Cover</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A structured walk through the survey findings</a:t>
            </a:r>
            <a:endParaRPr lang="en-US" sz="1350" dirty="0"/>
          </a:p>
        </p:txBody>
      </p:sp>
      <p:sp>
        <p:nvSpPr>
          <p:cNvPr id="4" name="Shape 2"/>
          <p:cNvSpPr/>
          <p:nvPr/>
        </p:nvSpPr>
        <p:spPr>
          <a:xfrm>
            <a:off x="548640" y="1600200"/>
            <a:ext cx="5257800" cy="1417320"/>
          </a:xfrm>
          <a:prstGeom prst="roundRect">
            <a:avLst>
              <a:gd name="adj" fmla="val 5161"/>
            </a:avLst>
          </a:prstGeom>
          <a:solidFill>
            <a:srgbClr val="F4F6FB"/>
          </a:solidFill>
          <a:ln/>
        </p:spPr>
      </p:sp>
      <p:sp>
        <p:nvSpPr>
          <p:cNvPr id="5" name="Text 3"/>
          <p:cNvSpPr/>
          <p:nvPr/>
        </p:nvSpPr>
        <p:spPr>
          <a:xfrm>
            <a:off x="777240" y="1764792"/>
            <a:ext cx="82296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600200" y="1783080"/>
            <a:ext cx="39776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Data Overview</a:t>
            </a:r>
            <a:endParaRPr lang="en-US" sz="1500" dirty="0"/>
          </a:p>
        </p:txBody>
      </p:sp>
      <p:sp>
        <p:nvSpPr>
          <p:cNvPr id="7" name="Text 5"/>
          <p:cNvSpPr/>
          <p:nvPr/>
        </p:nvSpPr>
        <p:spPr>
          <a:xfrm>
            <a:off x="1600200" y="2167128"/>
            <a:ext cx="3977640" cy="731520"/>
          </a:xfrm>
          <a:prstGeom prst="rect">
            <a:avLst/>
          </a:prstGeom>
          <a:noFill/>
          <a:ln/>
        </p:spPr>
        <p:txBody>
          <a:bodyPr wrap="square" rtlCol="0" anchor="ctr"/>
          <a:lstStyle/>
          <a:p>
            <a:pPr indent="0" marL="0">
              <a:lnSpc>
                <a:spcPts val="1500"/>
              </a:lnSpc>
              <a:buNone/>
            </a:pPr>
            <a:r>
              <a:rPr lang="en-US" sz="1150" dirty="0">
                <a:solidFill>
                  <a:srgbClr val="6B7592"/>
                </a:solidFill>
                <a:latin typeface="Calibri" pitchFamily="34" charset="0"/>
                <a:ea typeface="Calibri" pitchFamily="34" charset="-122"/>
                <a:cs typeface="Calibri" pitchFamily="34" charset="-120"/>
              </a:rPr>
              <a:t>Structure and scope of the survey dataset</a:t>
            </a:r>
            <a:endParaRPr lang="en-US" sz="1150" dirty="0"/>
          </a:p>
        </p:txBody>
      </p:sp>
      <p:sp>
        <p:nvSpPr>
          <p:cNvPr id="8" name="Shape 6"/>
          <p:cNvSpPr/>
          <p:nvPr/>
        </p:nvSpPr>
        <p:spPr>
          <a:xfrm>
            <a:off x="6172200" y="1600200"/>
            <a:ext cx="5257800" cy="1417320"/>
          </a:xfrm>
          <a:prstGeom prst="roundRect">
            <a:avLst>
              <a:gd name="adj" fmla="val 5161"/>
            </a:avLst>
          </a:prstGeom>
          <a:solidFill>
            <a:srgbClr val="F4F6FB"/>
          </a:solidFill>
          <a:ln/>
        </p:spPr>
      </p:sp>
      <p:sp>
        <p:nvSpPr>
          <p:cNvPr id="9" name="Text 7"/>
          <p:cNvSpPr/>
          <p:nvPr/>
        </p:nvSpPr>
        <p:spPr>
          <a:xfrm>
            <a:off x="6400800" y="1764792"/>
            <a:ext cx="82296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7223760" y="1783080"/>
            <a:ext cx="39776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Demographics</a:t>
            </a:r>
            <a:endParaRPr lang="en-US" sz="1500" dirty="0"/>
          </a:p>
        </p:txBody>
      </p:sp>
      <p:sp>
        <p:nvSpPr>
          <p:cNvPr id="11" name="Text 9"/>
          <p:cNvSpPr/>
          <p:nvPr/>
        </p:nvSpPr>
        <p:spPr>
          <a:xfrm>
            <a:off x="7223760" y="2167128"/>
            <a:ext cx="3977640" cy="731520"/>
          </a:xfrm>
          <a:prstGeom prst="rect">
            <a:avLst/>
          </a:prstGeom>
          <a:noFill/>
          <a:ln/>
        </p:spPr>
        <p:txBody>
          <a:bodyPr wrap="square" rtlCol="0" anchor="ctr"/>
          <a:lstStyle/>
          <a:p>
            <a:pPr indent="0" marL="0">
              <a:lnSpc>
                <a:spcPts val="1500"/>
              </a:lnSpc>
              <a:buNone/>
            </a:pPr>
            <a:r>
              <a:rPr lang="en-US" sz="1150" dirty="0">
                <a:solidFill>
                  <a:srgbClr val="6B7592"/>
                </a:solidFill>
                <a:latin typeface="Calibri" pitchFamily="34" charset="0"/>
                <a:ea typeface="Calibri" pitchFamily="34" charset="-122"/>
                <a:cs typeface="Calibri" pitchFamily="34" charset="-120"/>
              </a:rPr>
              <a:t>Gender mix and participant age profile</a:t>
            </a:r>
            <a:endParaRPr lang="en-US" sz="1150" dirty="0"/>
          </a:p>
        </p:txBody>
      </p:sp>
      <p:sp>
        <p:nvSpPr>
          <p:cNvPr id="12" name="Shape 10"/>
          <p:cNvSpPr/>
          <p:nvPr/>
        </p:nvSpPr>
        <p:spPr>
          <a:xfrm>
            <a:off x="548640" y="3273552"/>
            <a:ext cx="5257800" cy="1417320"/>
          </a:xfrm>
          <a:prstGeom prst="roundRect">
            <a:avLst>
              <a:gd name="adj" fmla="val 5161"/>
            </a:avLst>
          </a:prstGeom>
          <a:solidFill>
            <a:srgbClr val="F4F6FB"/>
          </a:solidFill>
          <a:ln/>
        </p:spPr>
      </p:sp>
      <p:sp>
        <p:nvSpPr>
          <p:cNvPr id="13" name="Text 11"/>
          <p:cNvSpPr/>
          <p:nvPr/>
        </p:nvSpPr>
        <p:spPr>
          <a:xfrm>
            <a:off x="777240" y="3438144"/>
            <a:ext cx="82296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1600200" y="3456432"/>
            <a:ext cx="39776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Investment Preferences</a:t>
            </a:r>
            <a:endParaRPr lang="en-US" sz="1500" dirty="0"/>
          </a:p>
        </p:txBody>
      </p:sp>
      <p:sp>
        <p:nvSpPr>
          <p:cNvPr id="15" name="Text 13"/>
          <p:cNvSpPr/>
          <p:nvPr/>
        </p:nvSpPr>
        <p:spPr>
          <a:xfrm>
            <a:off x="1600200" y="3840480"/>
            <a:ext cx="3977640" cy="731520"/>
          </a:xfrm>
          <a:prstGeom prst="rect">
            <a:avLst/>
          </a:prstGeom>
          <a:noFill/>
          <a:ln/>
        </p:spPr>
        <p:txBody>
          <a:bodyPr wrap="square" rtlCol="0" anchor="ctr"/>
          <a:lstStyle/>
          <a:p>
            <a:pPr indent="0" marL="0">
              <a:lnSpc>
                <a:spcPts val="1500"/>
              </a:lnSpc>
              <a:buNone/>
            </a:pPr>
            <a:r>
              <a:rPr lang="en-US" sz="1150" dirty="0">
                <a:solidFill>
                  <a:srgbClr val="6B7592"/>
                </a:solidFill>
                <a:latin typeface="Calibri" pitchFamily="34" charset="0"/>
                <a:ea typeface="Calibri" pitchFamily="34" charset="-122"/>
                <a:cs typeface="Calibri" pitchFamily="34" charset="-120"/>
              </a:rPr>
              <a:t>Preferred avenues and instrument rankings</a:t>
            </a:r>
            <a:endParaRPr lang="en-US" sz="1150" dirty="0"/>
          </a:p>
        </p:txBody>
      </p:sp>
      <p:sp>
        <p:nvSpPr>
          <p:cNvPr id="16" name="Shape 14"/>
          <p:cNvSpPr/>
          <p:nvPr/>
        </p:nvSpPr>
        <p:spPr>
          <a:xfrm>
            <a:off x="6172200" y="3273552"/>
            <a:ext cx="5257800" cy="1417320"/>
          </a:xfrm>
          <a:prstGeom prst="roundRect">
            <a:avLst>
              <a:gd name="adj" fmla="val 5161"/>
            </a:avLst>
          </a:prstGeom>
          <a:solidFill>
            <a:srgbClr val="F4F6FB"/>
          </a:solidFill>
          <a:ln/>
        </p:spPr>
      </p:sp>
      <p:sp>
        <p:nvSpPr>
          <p:cNvPr id="17" name="Text 15"/>
          <p:cNvSpPr/>
          <p:nvPr/>
        </p:nvSpPr>
        <p:spPr>
          <a:xfrm>
            <a:off x="6400800" y="3438144"/>
            <a:ext cx="82296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7223760" y="3456432"/>
            <a:ext cx="39776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Objectives &amp; Sources</a:t>
            </a:r>
            <a:endParaRPr lang="en-US" sz="1500" dirty="0"/>
          </a:p>
        </p:txBody>
      </p:sp>
      <p:sp>
        <p:nvSpPr>
          <p:cNvPr id="19" name="Text 17"/>
          <p:cNvSpPr/>
          <p:nvPr/>
        </p:nvSpPr>
        <p:spPr>
          <a:xfrm>
            <a:off x="7223760" y="3840480"/>
            <a:ext cx="3977640" cy="731520"/>
          </a:xfrm>
          <a:prstGeom prst="rect">
            <a:avLst/>
          </a:prstGeom>
          <a:noFill/>
          <a:ln/>
        </p:spPr>
        <p:txBody>
          <a:bodyPr wrap="square" rtlCol="0" anchor="ctr"/>
          <a:lstStyle/>
          <a:p>
            <a:pPr indent="0" marL="0">
              <a:lnSpc>
                <a:spcPts val="1500"/>
              </a:lnSpc>
              <a:buNone/>
            </a:pPr>
            <a:r>
              <a:rPr lang="en-US" sz="1150" dirty="0">
                <a:solidFill>
                  <a:srgbClr val="6B7592"/>
                </a:solidFill>
                <a:latin typeface="Calibri" pitchFamily="34" charset="0"/>
                <a:ea typeface="Calibri" pitchFamily="34" charset="-122"/>
                <a:cs typeface="Calibri" pitchFamily="34" charset="-120"/>
              </a:rPr>
              <a:t>Why participants save, and where they get advice</a:t>
            </a:r>
            <a:endParaRPr lang="en-US" sz="1150" dirty="0"/>
          </a:p>
        </p:txBody>
      </p:sp>
      <p:sp>
        <p:nvSpPr>
          <p:cNvPr id="20" name="Shape 18"/>
          <p:cNvSpPr/>
          <p:nvPr/>
        </p:nvSpPr>
        <p:spPr>
          <a:xfrm>
            <a:off x="548640" y="4946904"/>
            <a:ext cx="5257800" cy="1417320"/>
          </a:xfrm>
          <a:prstGeom prst="roundRect">
            <a:avLst>
              <a:gd name="adj" fmla="val 5161"/>
            </a:avLst>
          </a:prstGeom>
          <a:solidFill>
            <a:srgbClr val="F4F6FB"/>
          </a:solidFill>
          <a:ln/>
        </p:spPr>
      </p:sp>
      <p:sp>
        <p:nvSpPr>
          <p:cNvPr id="21" name="Text 19"/>
          <p:cNvSpPr/>
          <p:nvPr/>
        </p:nvSpPr>
        <p:spPr>
          <a:xfrm>
            <a:off x="777240" y="5111496"/>
            <a:ext cx="82296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1600200" y="5129784"/>
            <a:ext cx="39776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Duration &amp; Correlation</a:t>
            </a:r>
            <a:endParaRPr lang="en-US" sz="1500" dirty="0"/>
          </a:p>
        </p:txBody>
      </p:sp>
      <p:sp>
        <p:nvSpPr>
          <p:cNvPr id="23" name="Text 21"/>
          <p:cNvSpPr/>
          <p:nvPr/>
        </p:nvSpPr>
        <p:spPr>
          <a:xfrm>
            <a:off x="1600200" y="5513832"/>
            <a:ext cx="3977640" cy="731520"/>
          </a:xfrm>
          <a:prstGeom prst="rect">
            <a:avLst/>
          </a:prstGeom>
          <a:noFill/>
          <a:ln/>
        </p:spPr>
        <p:txBody>
          <a:bodyPr wrap="square" rtlCol="0" anchor="ctr"/>
          <a:lstStyle/>
          <a:p>
            <a:pPr indent="0" marL="0">
              <a:lnSpc>
                <a:spcPts val="1500"/>
              </a:lnSpc>
              <a:buNone/>
            </a:pPr>
            <a:r>
              <a:rPr lang="en-US" sz="1150" dirty="0">
                <a:solidFill>
                  <a:srgbClr val="6B7592"/>
                </a:solidFill>
                <a:latin typeface="Calibri" pitchFamily="34" charset="0"/>
                <a:ea typeface="Calibri" pitchFamily="34" charset="-122"/>
                <a:cs typeface="Calibri" pitchFamily="34" charset="-120"/>
              </a:rPr>
              <a:t>Holding periods and relationships between variables</a:t>
            </a:r>
            <a:endParaRPr lang="en-US" sz="1150" dirty="0"/>
          </a:p>
        </p:txBody>
      </p:sp>
      <p:sp>
        <p:nvSpPr>
          <p:cNvPr id="24" name="Shape 22"/>
          <p:cNvSpPr/>
          <p:nvPr/>
        </p:nvSpPr>
        <p:spPr>
          <a:xfrm>
            <a:off x="6172200" y="4946904"/>
            <a:ext cx="5257800" cy="1417320"/>
          </a:xfrm>
          <a:prstGeom prst="roundRect">
            <a:avLst>
              <a:gd name="adj" fmla="val 5161"/>
            </a:avLst>
          </a:prstGeom>
          <a:solidFill>
            <a:srgbClr val="F4F6FB"/>
          </a:solidFill>
          <a:ln/>
        </p:spPr>
      </p:sp>
      <p:sp>
        <p:nvSpPr>
          <p:cNvPr id="25" name="Text 23"/>
          <p:cNvSpPr/>
          <p:nvPr/>
        </p:nvSpPr>
        <p:spPr>
          <a:xfrm>
            <a:off x="6400800" y="5111496"/>
            <a:ext cx="82296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7223760" y="5129784"/>
            <a:ext cx="39776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Reasons &amp; Expectations</a:t>
            </a:r>
            <a:endParaRPr lang="en-US" sz="1500" dirty="0"/>
          </a:p>
        </p:txBody>
      </p:sp>
      <p:sp>
        <p:nvSpPr>
          <p:cNvPr id="27" name="Text 25"/>
          <p:cNvSpPr/>
          <p:nvPr/>
        </p:nvSpPr>
        <p:spPr>
          <a:xfrm>
            <a:off x="7223760" y="5513832"/>
            <a:ext cx="3977640" cy="731520"/>
          </a:xfrm>
          <a:prstGeom prst="rect">
            <a:avLst/>
          </a:prstGeom>
          <a:noFill/>
          <a:ln/>
        </p:spPr>
        <p:txBody>
          <a:bodyPr wrap="square" rtlCol="0" anchor="ctr"/>
          <a:lstStyle/>
          <a:p>
            <a:pPr indent="0" marL="0">
              <a:lnSpc>
                <a:spcPts val="1500"/>
              </a:lnSpc>
              <a:buNone/>
            </a:pPr>
            <a:r>
              <a:rPr lang="en-US" sz="1150" dirty="0">
                <a:solidFill>
                  <a:srgbClr val="6B7592"/>
                </a:solidFill>
                <a:latin typeface="Calibri" pitchFamily="34" charset="0"/>
                <a:ea typeface="Calibri" pitchFamily="34" charset="-122"/>
                <a:cs typeface="Calibri" pitchFamily="34" charset="-120"/>
              </a:rPr>
              <a:t>Motivations behind each instrument and return outlook</a:t>
            </a:r>
            <a:endParaRPr lang="en-US" sz="1150" dirty="0"/>
          </a:p>
        </p:txBody>
      </p:sp>
      <p:sp>
        <p:nvSpPr>
          <p:cNvPr id="28" name="Text 2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29" name="Text 2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 Overview</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Understanding the dataset structure before diving into analysis</a:t>
            </a:r>
            <a:endParaRPr lang="en-US" sz="1350" dirty="0"/>
          </a:p>
        </p:txBody>
      </p:sp>
      <p:sp>
        <p:nvSpPr>
          <p:cNvPr id="4" name="Shape 2"/>
          <p:cNvSpPr/>
          <p:nvPr/>
        </p:nvSpPr>
        <p:spPr>
          <a:xfrm>
            <a:off x="548640" y="1828800"/>
            <a:ext cx="2606040" cy="2834640"/>
          </a:xfrm>
          <a:prstGeom prst="roundRect">
            <a:avLst>
              <a:gd name="adj" fmla="val 2807"/>
            </a:avLst>
          </a:prstGeom>
          <a:solidFill>
            <a:srgbClr val="1E2761"/>
          </a:solidFill>
          <a:ln/>
        </p:spPr>
      </p:sp>
      <p:sp>
        <p:nvSpPr>
          <p:cNvPr id="5" name="Text 3"/>
          <p:cNvSpPr/>
          <p:nvPr/>
        </p:nvSpPr>
        <p:spPr>
          <a:xfrm>
            <a:off x="548640" y="2194560"/>
            <a:ext cx="2606040" cy="914400"/>
          </a:xfrm>
          <a:prstGeom prst="rect">
            <a:avLst/>
          </a:prstGeom>
          <a:noFill/>
          <a:ln/>
        </p:spPr>
        <p:txBody>
          <a:bodyPr wrap="square" rtlCol="0" anchor="ctr"/>
          <a:lstStyle/>
          <a:p>
            <a:pPr algn="ctr" indent="0" marL="0">
              <a:buNone/>
            </a:pPr>
            <a:r>
              <a:rPr lang="en-US" sz="4400" b="1" dirty="0">
                <a:solidFill>
                  <a:srgbClr val="D4A24C"/>
                </a:solidFill>
                <a:latin typeface="Cambria" pitchFamily="34" charset="0"/>
                <a:ea typeface="Cambria" pitchFamily="34" charset="-122"/>
                <a:cs typeface="Cambria" pitchFamily="34" charset="-120"/>
              </a:rPr>
              <a:t>40</a:t>
            </a:r>
            <a:endParaRPr lang="en-US" sz="4400" dirty="0"/>
          </a:p>
        </p:txBody>
      </p:sp>
      <p:sp>
        <p:nvSpPr>
          <p:cNvPr id="6" name="Text 4"/>
          <p:cNvSpPr/>
          <p:nvPr/>
        </p:nvSpPr>
        <p:spPr>
          <a:xfrm>
            <a:off x="731520" y="3246120"/>
            <a:ext cx="2240280" cy="3657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Total Entries</a:t>
            </a:r>
            <a:endParaRPr lang="en-US" sz="1350" dirty="0"/>
          </a:p>
        </p:txBody>
      </p:sp>
      <p:sp>
        <p:nvSpPr>
          <p:cNvPr id="7" name="Text 5"/>
          <p:cNvSpPr/>
          <p:nvPr/>
        </p:nvSpPr>
        <p:spPr>
          <a:xfrm>
            <a:off x="731520" y="3611880"/>
            <a:ext cx="2240280" cy="914400"/>
          </a:xfrm>
          <a:prstGeom prst="rect">
            <a:avLst/>
          </a:prstGeom>
          <a:noFill/>
          <a:ln/>
        </p:spPr>
        <p:txBody>
          <a:bodyPr wrap="square" rtlCol="0" anchor="ctr"/>
          <a:lstStyle/>
          <a:p>
            <a:pPr algn="ctr" indent="0" marL="0">
              <a:lnSpc>
                <a:spcPts val="1300"/>
              </a:lnSpc>
              <a:buNone/>
            </a:pPr>
            <a:r>
              <a:rPr lang="en-US" sz="1050" dirty="0">
                <a:solidFill>
                  <a:srgbClr val="CADCFC"/>
                </a:solidFill>
                <a:latin typeface="Calibri" pitchFamily="34" charset="0"/>
                <a:ea typeface="Calibri" pitchFamily="34" charset="-122"/>
                <a:cs typeface="Calibri" pitchFamily="34" charset="-120"/>
              </a:rPr>
              <a:t>Survey respondents captured in the dataset</a:t>
            </a:r>
            <a:endParaRPr lang="en-US" sz="1050" dirty="0"/>
          </a:p>
        </p:txBody>
      </p:sp>
      <p:sp>
        <p:nvSpPr>
          <p:cNvPr id="8" name="Shape 6"/>
          <p:cNvSpPr/>
          <p:nvPr/>
        </p:nvSpPr>
        <p:spPr>
          <a:xfrm>
            <a:off x="3410712" y="1828800"/>
            <a:ext cx="2606040" cy="2834640"/>
          </a:xfrm>
          <a:prstGeom prst="roundRect">
            <a:avLst>
              <a:gd name="adj" fmla="val 2807"/>
            </a:avLst>
          </a:prstGeom>
          <a:solidFill>
            <a:srgbClr val="F4F6FB"/>
          </a:solidFill>
          <a:ln/>
        </p:spPr>
      </p:sp>
      <p:sp>
        <p:nvSpPr>
          <p:cNvPr id="9" name="Text 7"/>
          <p:cNvSpPr/>
          <p:nvPr/>
        </p:nvSpPr>
        <p:spPr>
          <a:xfrm>
            <a:off x="3410712" y="2194560"/>
            <a:ext cx="2606040" cy="914400"/>
          </a:xfrm>
          <a:prstGeom prst="rect">
            <a:avLst/>
          </a:prstGeom>
          <a:noFill/>
          <a:ln/>
        </p:spPr>
        <p:txBody>
          <a:bodyPr wrap="square"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24</a:t>
            </a:r>
            <a:endParaRPr lang="en-US" sz="4400" dirty="0"/>
          </a:p>
        </p:txBody>
      </p:sp>
      <p:sp>
        <p:nvSpPr>
          <p:cNvPr id="10" name="Text 8"/>
          <p:cNvSpPr/>
          <p:nvPr/>
        </p:nvSpPr>
        <p:spPr>
          <a:xfrm>
            <a:off x="3593592" y="3246120"/>
            <a:ext cx="2240280" cy="365760"/>
          </a:xfrm>
          <a:prstGeom prst="rect">
            <a:avLst/>
          </a:prstGeom>
          <a:noFill/>
          <a:ln/>
        </p:spPr>
        <p:txBody>
          <a:bodyPr wrap="square"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Columns</a:t>
            </a:r>
            <a:endParaRPr lang="en-US" sz="1350" dirty="0"/>
          </a:p>
        </p:txBody>
      </p:sp>
      <p:sp>
        <p:nvSpPr>
          <p:cNvPr id="11" name="Text 9"/>
          <p:cNvSpPr/>
          <p:nvPr/>
        </p:nvSpPr>
        <p:spPr>
          <a:xfrm>
            <a:off x="3593592" y="3611880"/>
            <a:ext cx="2240280" cy="914400"/>
          </a:xfrm>
          <a:prstGeom prst="rect">
            <a:avLst/>
          </a:prstGeom>
          <a:noFill/>
          <a:ln/>
        </p:spPr>
        <p:txBody>
          <a:bodyPr wrap="square" rtlCol="0" anchor="ctr"/>
          <a:lstStyle/>
          <a:p>
            <a:pPr algn="ctr" indent="0" marL="0">
              <a:lnSpc>
                <a:spcPts val="1300"/>
              </a:lnSpc>
              <a:buNone/>
            </a:pPr>
            <a:r>
              <a:rPr lang="en-US" sz="1050" dirty="0">
                <a:solidFill>
                  <a:srgbClr val="6B7592"/>
                </a:solidFill>
                <a:latin typeface="Calibri" pitchFamily="34" charset="0"/>
                <a:ea typeface="Calibri" pitchFamily="34" charset="-122"/>
                <a:cs typeface="Calibri" pitchFamily="34" charset="-120"/>
              </a:rPr>
              <a:t>Demographic, behavioral, and preference variables</a:t>
            </a:r>
            <a:endParaRPr lang="en-US" sz="1050" dirty="0"/>
          </a:p>
        </p:txBody>
      </p:sp>
      <p:sp>
        <p:nvSpPr>
          <p:cNvPr id="12" name="Shape 10"/>
          <p:cNvSpPr/>
          <p:nvPr/>
        </p:nvSpPr>
        <p:spPr>
          <a:xfrm>
            <a:off x="6272784" y="1828800"/>
            <a:ext cx="2606040" cy="2834640"/>
          </a:xfrm>
          <a:prstGeom prst="roundRect">
            <a:avLst>
              <a:gd name="adj" fmla="val 2807"/>
            </a:avLst>
          </a:prstGeom>
          <a:solidFill>
            <a:srgbClr val="F4F6FB"/>
          </a:solidFill>
          <a:ln/>
        </p:spPr>
      </p:sp>
      <p:sp>
        <p:nvSpPr>
          <p:cNvPr id="13" name="Text 11"/>
          <p:cNvSpPr/>
          <p:nvPr/>
        </p:nvSpPr>
        <p:spPr>
          <a:xfrm>
            <a:off x="6272784" y="2194560"/>
            <a:ext cx="2606040" cy="914400"/>
          </a:xfrm>
          <a:prstGeom prst="rect">
            <a:avLst/>
          </a:prstGeom>
          <a:noFill/>
          <a:ln/>
        </p:spPr>
        <p:txBody>
          <a:bodyPr wrap="square"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37</a:t>
            </a:r>
            <a:endParaRPr lang="en-US" sz="4400" dirty="0"/>
          </a:p>
        </p:txBody>
      </p:sp>
      <p:sp>
        <p:nvSpPr>
          <p:cNvPr id="14" name="Text 12"/>
          <p:cNvSpPr/>
          <p:nvPr/>
        </p:nvSpPr>
        <p:spPr>
          <a:xfrm>
            <a:off x="6455664" y="3246120"/>
            <a:ext cx="2240280" cy="365760"/>
          </a:xfrm>
          <a:prstGeom prst="rect">
            <a:avLst/>
          </a:prstGeom>
          <a:noFill/>
          <a:ln/>
        </p:spPr>
        <p:txBody>
          <a:bodyPr wrap="square"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Active Investors</a:t>
            </a:r>
            <a:endParaRPr lang="en-US" sz="1350" dirty="0"/>
          </a:p>
        </p:txBody>
      </p:sp>
      <p:sp>
        <p:nvSpPr>
          <p:cNvPr id="15" name="Text 13"/>
          <p:cNvSpPr/>
          <p:nvPr/>
        </p:nvSpPr>
        <p:spPr>
          <a:xfrm>
            <a:off x="6455664" y="3611880"/>
            <a:ext cx="2240280" cy="914400"/>
          </a:xfrm>
          <a:prstGeom prst="rect">
            <a:avLst/>
          </a:prstGeom>
          <a:noFill/>
          <a:ln/>
        </p:spPr>
        <p:txBody>
          <a:bodyPr wrap="square" rtlCol="0" anchor="ctr"/>
          <a:lstStyle/>
          <a:p>
            <a:pPr algn="ctr" indent="0" marL="0">
              <a:lnSpc>
                <a:spcPts val="1300"/>
              </a:lnSpc>
              <a:buNone/>
            </a:pPr>
            <a:r>
              <a:rPr lang="en-US" sz="1050" dirty="0">
                <a:solidFill>
                  <a:srgbClr val="6B7592"/>
                </a:solidFill>
                <a:latin typeface="Calibri" pitchFamily="34" charset="0"/>
                <a:ea typeface="Calibri" pitchFamily="34" charset="-122"/>
                <a:cs typeface="Calibri" pitchFamily="34" charset="-120"/>
              </a:rPr>
              <a:t>Participants who currently invest (92.5%)</a:t>
            </a:r>
            <a:endParaRPr lang="en-US" sz="1050" dirty="0"/>
          </a:p>
        </p:txBody>
      </p:sp>
      <p:sp>
        <p:nvSpPr>
          <p:cNvPr id="16" name="Shape 14"/>
          <p:cNvSpPr/>
          <p:nvPr/>
        </p:nvSpPr>
        <p:spPr>
          <a:xfrm>
            <a:off x="9134856" y="1828800"/>
            <a:ext cx="2606040" cy="2834640"/>
          </a:xfrm>
          <a:prstGeom prst="roundRect">
            <a:avLst>
              <a:gd name="adj" fmla="val 2807"/>
            </a:avLst>
          </a:prstGeom>
          <a:solidFill>
            <a:srgbClr val="F4F6FB"/>
          </a:solidFill>
          <a:ln/>
        </p:spPr>
      </p:sp>
      <p:sp>
        <p:nvSpPr>
          <p:cNvPr id="17" name="Text 15"/>
          <p:cNvSpPr/>
          <p:nvPr/>
        </p:nvSpPr>
        <p:spPr>
          <a:xfrm>
            <a:off x="9134856" y="2194560"/>
            <a:ext cx="2606040" cy="914400"/>
          </a:xfrm>
          <a:prstGeom prst="rect">
            <a:avLst/>
          </a:prstGeom>
          <a:noFill/>
          <a:ln/>
        </p:spPr>
        <p:txBody>
          <a:bodyPr wrap="square"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0</a:t>
            </a:r>
            <a:endParaRPr lang="en-US" sz="4400" dirty="0"/>
          </a:p>
        </p:txBody>
      </p:sp>
      <p:sp>
        <p:nvSpPr>
          <p:cNvPr id="18" name="Text 16"/>
          <p:cNvSpPr/>
          <p:nvPr/>
        </p:nvSpPr>
        <p:spPr>
          <a:xfrm>
            <a:off x="9317736" y="3246120"/>
            <a:ext cx="2240280" cy="365760"/>
          </a:xfrm>
          <a:prstGeom prst="rect">
            <a:avLst/>
          </a:prstGeom>
          <a:noFill/>
          <a:ln/>
        </p:spPr>
        <p:txBody>
          <a:bodyPr wrap="square"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Missing Values</a:t>
            </a:r>
            <a:endParaRPr lang="en-US" sz="1350" dirty="0"/>
          </a:p>
        </p:txBody>
      </p:sp>
      <p:sp>
        <p:nvSpPr>
          <p:cNvPr id="19" name="Text 17"/>
          <p:cNvSpPr/>
          <p:nvPr/>
        </p:nvSpPr>
        <p:spPr>
          <a:xfrm>
            <a:off x="9317736" y="3611880"/>
            <a:ext cx="2240280" cy="914400"/>
          </a:xfrm>
          <a:prstGeom prst="rect">
            <a:avLst/>
          </a:prstGeom>
          <a:noFill/>
          <a:ln/>
        </p:spPr>
        <p:txBody>
          <a:bodyPr wrap="square" rtlCol="0" anchor="ctr"/>
          <a:lstStyle/>
          <a:p>
            <a:pPr algn="ctr" indent="0" marL="0">
              <a:lnSpc>
                <a:spcPts val="1300"/>
              </a:lnSpc>
              <a:buNone/>
            </a:pPr>
            <a:r>
              <a:rPr lang="en-US" sz="1050" dirty="0">
                <a:solidFill>
                  <a:srgbClr val="6B7592"/>
                </a:solidFill>
                <a:latin typeface="Calibri" pitchFamily="34" charset="0"/>
                <a:ea typeface="Calibri" pitchFamily="34" charset="-122"/>
                <a:cs typeface="Calibri" pitchFamily="34" charset="-120"/>
              </a:rPr>
              <a:t>Complete data across all recorded fields</a:t>
            </a:r>
            <a:endParaRPr lang="en-US" sz="1050" dirty="0"/>
          </a:p>
        </p:txBody>
      </p:sp>
      <p:sp>
        <p:nvSpPr>
          <p:cNvPr id="20" name="Text 18"/>
          <p:cNvSpPr/>
          <p:nvPr/>
        </p:nvSpPr>
        <p:spPr>
          <a:xfrm>
            <a:off x="548640" y="5029200"/>
            <a:ext cx="11064240" cy="822960"/>
          </a:xfrm>
          <a:prstGeom prst="rect">
            <a:avLst/>
          </a:prstGeom>
          <a:noFill/>
          <a:ln/>
        </p:spPr>
        <p:txBody>
          <a:bodyPr wrap="square" rtlCol="0" anchor="ctr"/>
          <a:lstStyle/>
          <a:p>
            <a:pPr indent="0" marL="0">
              <a:lnSpc>
                <a:spcPts val="1800"/>
              </a:lnSpc>
              <a:buNone/>
            </a:pPr>
            <a:r>
              <a:rPr lang="en-US" sz="1250" dirty="0">
                <a:solidFill>
                  <a:srgbClr val="6B7592"/>
                </a:solidFill>
                <a:latin typeface="Calibri" pitchFamily="34" charset="0"/>
                <a:ea typeface="Calibri" pitchFamily="34" charset="-122"/>
                <a:cs typeface="Calibri" pitchFamily="34" charset="-120"/>
              </a:rPr>
              <a:t>Variables captured span demographics (gender, age), instrument-level preference ranks (Mutual Funds, Equity, Debentures, Government Bonds, Fixed Deposits, PPF, Gold), savings objectives, information sources, holding duration, and expected returns.</a:t>
            </a:r>
            <a:endParaRPr lang="en-US" sz="1250" dirty="0"/>
          </a:p>
        </p:txBody>
      </p:sp>
      <p:sp>
        <p:nvSpPr>
          <p:cNvPr id="21" name="Text 19"/>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22" name="Text 20"/>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Gender Distribution</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Composition of survey participants</a:t>
            </a:r>
            <a:endParaRPr lang="en-US" sz="1350" dirty="0"/>
          </a:p>
        </p:txBody>
      </p:sp>
      <p:pic>
        <p:nvPicPr>
          <p:cNvPr id="4" name="Image 0" descr="charts/01_gender.png">    </p:cNvPr>
          <p:cNvPicPr>
            <a:picLocks noChangeAspect="1"/>
          </p:cNvPicPr>
          <p:nvPr/>
        </p:nvPicPr>
        <p:blipFill>
          <a:blip r:embed="rId1"/>
          <a:srcRect l="0" r="0" t="0" b="0"/>
          <a:stretch/>
        </p:blipFill>
        <p:spPr>
          <a:xfrm>
            <a:off x="457200" y="1600200"/>
            <a:ext cx="6035040" cy="5029200"/>
          </a:xfrm>
          <a:prstGeom prst="rect">
            <a:avLst/>
          </a:prstGeom>
        </p:spPr>
      </p:pic>
      <p:sp>
        <p:nvSpPr>
          <p:cNvPr id="5" name="Shape 2"/>
          <p:cNvSpPr/>
          <p:nvPr/>
        </p:nvSpPr>
        <p:spPr>
          <a:xfrm>
            <a:off x="6858000" y="1993392"/>
            <a:ext cx="109728" cy="109728"/>
          </a:xfrm>
          <a:prstGeom prst="ellipse">
            <a:avLst/>
          </a:prstGeom>
          <a:solidFill>
            <a:srgbClr val="D4A24C"/>
          </a:solidFill>
          <a:ln/>
        </p:spPr>
      </p:sp>
      <p:sp>
        <p:nvSpPr>
          <p:cNvPr id="6" name="Text 3"/>
          <p:cNvSpPr/>
          <p:nvPr/>
        </p:nvSpPr>
        <p:spPr>
          <a:xfrm>
            <a:off x="7178040" y="1810512"/>
            <a:ext cx="4480560" cy="1005840"/>
          </a:xfrm>
          <a:prstGeom prst="rect">
            <a:avLst/>
          </a:prstGeom>
          <a:noFill/>
          <a:ln/>
        </p:spPr>
        <p:txBody>
          <a:bodyPr wrap="square" rtlCol="0" anchor="ctr"/>
          <a:lstStyle/>
          <a:p>
            <a:pPr indent="0" marL="0">
              <a:lnSpc>
                <a:spcPts val="1900"/>
              </a:lnSpc>
              <a:buNone/>
            </a:pPr>
            <a:r>
              <a:rPr lang="en-US" sz="1300" dirty="0">
                <a:solidFill>
                  <a:srgbClr val="1E2761"/>
                </a:solidFill>
                <a:latin typeface="Calibri" pitchFamily="34" charset="0"/>
                <a:ea typeface="Calibri" pitchFamily="34" charset="-122"/>
                <a:cs typeface="Calibri" pitchFamily="34" charset="-120"/>
              </a:rPr>
              <a:t>The sample skews male, with 25 of 40 participants (62.5%) identifying as male and 15 (37.5%) as female.</a:t>
            </a:r>
            <a:endParaRPr lang="en-US" sz="1300" dirty="0"/>
          </a:p>
        </p:txBody>
      </p:sp>
      <p:sp>
        <p:nvSpPr>
          <p:cNvPr id="7" name="Shape 4"/>
          <p:cNvSpPr/>
          <p:nvPr/>
        </p:nvSpPr>
        <p:spPr>
          <a:xfrm>
            <a:off x="6858000" y="3410712"/>
            <a:ext cx="109728" cy="109728"/>
          </a:xfrm>
          <a:prstGeom prst="ellipse">
            <a:avLst/>
          </a:prstGeom>
          <a:solidFill>
            <a:srgbClr val="D4A24C"/>
          </a:solidFill>
          <a:ln/>
        </p:spPr>
      </p:sp>
      <p:sp>
        <p:nvSpPr>
          <p:cNvPr id="8" name="Text 5"/>
          <p:cNvSpPr/>
          <p:nvPr/>
        </p:nvSpPr>
        <p:spPr>
          <a:xfrm>
            <a:off x="7178040" y="3227832"/>
            <a:ext cx="4480560" cy="1005840"/>
          </a:xfrm>
          <a:prstGeom prst="rect">
            <a:avLst/>
          </a:prstGeom>
          <a:noFill/>
          <a:ln/>
        </p:spPr>
        <p:txBody>
          <a:bodyPr wrap="square" rtlCol="0" anchor="ctr"/>
          <a:lstStyle/>
          <a:p>
            <a:pPr indent="0" marL="0">
              <a:lnSpc>
                <a:spcPts val="1900"/>
              </a:lnSpc>
              <a:buNone/>
            </a:pPr>
            <a:r>
              <a:rPr lang="en-US" sz="1300" dirty="0">
                <a:solidFill>
                  <a:srgbClr val="1E2761"/>
                </a:solidFill>
                <a:latin typeface="Calibri" pitchFamily="34" charset="0"/>
                <a:ea typeface="Calibri" pitchFamily="34" charset="-122"/>
                <a:cs typeface="Calibri" pitchFamily="34" charset="-120"/>
              </a:rPr>
              <a:t>This composition should be kept in mind when generalizing preference and behavior findings to a broader population.</a:t>
            </a:r>
            <a:endParaRPr lang="en-US" sz="1300" dirty="0"/>
          </a:p>
        </p:txBody>
      </p:sp>
      <p:sp>
        <p:nvSpPr>
          <p:cNvPr id="9" name="Shape 6"/>
          <p:cNvSpPr/>
          <p:nvPr/>
        </p:nvSpPr>
        <p:spPr>
          <a:xfrm>
            <a:off x="6858000" y="4828032"/>
            <a:ext cx="109728" cy="109728"/>
          </a:xfrm>
          <a:prstGeom prst="ellipse">
            <a:avLst/>
          </a:prstGeom>
          <a:solidFill>
            <a:srgbClr val="D4A24C"/>
          </a:solidFill>
          <a:ln/>
        </p:spPr>
      </p:sp>
      <p:sp>
        <p:nvSpPr>
          <p:cNvPr id="10" name="Text 7"/>
          <p:cNvSpPr/>
          <p:nvPr/>
        </p:nvSpPr>
        <p:spPr>
          <a:xfrm>
            <a:off x="7178040" y="4645152"/>
            <a:ext cx="4480560" cy="1005840"/>
          </a:xfrm>
          <a:prstGeom prst="rect">
            <a:avLst/>
          </a:prstGeom>
          <a:noFill/>
          <a:ln/>
        </p:spPr>
        <p:txBody>
          <a:bodyPr wrap="square" rtlCol="0" anchor="ctr"/>
          <a:lstStyle/>
          <a:p>
            <a:pPr indent="0" marL="0">
              <a:lnSpc>
                <a:spcPts val="1900"/>
              </a:lnSpc>
              <a:buNone/>
            </a:pPr>
            <a:r>
              <a:rPr lang="en-US" sz="1300" dirty="0">
                <a:solidFill>
                  <a:srgbClr val="1E2761"/>
                </a:solidFill>
                <a:latin typeface="Calibri" pitchFamily="34" charset="0"/>
                <a:ea typeface="Calibri" pitchFamily="34" charset="-122"/>
                <a:cs typeface="Calibri" pitchFamily="34" charset="-120"/>
              </a:rPr>
              <a:t>Later slides (duration, correlation) treat the full sample together, since gender was not a strong differentiator in preference ranks.</a:t>
            </a:r>
            <a:endParaRPr lang="en-US" sz="1300" dirty="0"/>
          </a:p>
        </p:txBody>
      </p:sp>
      <p:sp>
        <p:nvSpPr>
          <p:cNvPr id="11" name="Text 8"/>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2" name="Text 9"/>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Descriptive Statistics</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Age and instrument preference ranks (1 = most preferred, 7 = least preferred)</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772400" cy="4206240"/>
        </p:xfrm>
        <a:graphic>
          <a:graphicData uri="http://schemas.openxmlformats.org/drawingml/2006/table">
            <a:tbl>
              <a:tblPr/>
              <a:tblGrid>
                <a:gridCol w="2286000"/>
                <a:gridCol w="1097280"/>
                <a:gridCol w="1097280"/>
                <a:gridCol w="1097280"/>
                <a:gridCol w="1097280"/>
                <a:gridCol w="1097280"/>
              </a:tblGrid>
              <a:tr h="467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27.80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27.0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3.56</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Mutual Funds</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2.55</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Equity Market</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3.48</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1.13</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Debentures</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5.75</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1.68</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Government Bonds</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4.65</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1.37</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Fixed Deposits</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3.58</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1.80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PPF</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2.02</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1.61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6736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Gold</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5.98</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1.14</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E276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6FB"/>
                    </a:solidFill>
                  </a:tcPr>
                </a:tc>
              </a:tr>
            </a:tbl>
          </a:graphicData>
        </a:graphic>
      </p:graphicFrame>
      <p:sp>
        <p:nvSpPr>
          <p:cNvPr id="5" name="Shape 2"/>
          <p:cNvSpPr/>
          <p:nvPr/>
        </p:nvSpPr>
        <p:spPr>
          <a:xfrm>
            <a:off x="8549640" y="1554480"/>
            <a:ext cx="3108960" cy="4206240"/>
          </a:xfrm>
          <a:prstGeom prst="roundRect">
            <a:avLst>
              <a:gd name="adj" fmla="val 2353"/>
            </a:avLst>
          </a:prstGeom>
          <a:solidFill>
            <a:srgbClr val="F4F6FB"/>
          </a:solidFill>
          <a:ln/>
        </p:spPr>
      </p:sp>
      <p:sp>
        <p:nvSpPr>
          <p:cNvPr id="6" name="Text 3"/>
          <p:cNvSpPr/>
          <p:nvPr/>
        </p:nvSpPr>
        <p:spPr>
          <a:xfrm>
            <a:off x="8778240" y="1783080"/>
            <a:ext cx="274320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Reading the Ranks</a:t>
            </a:r>
            <a:endParaRPr lang="en-US" sz="1400" dirty="0"/>
          </a:p>
        </p:txBody>
      </p:sp>
      <p:sp>
        <p:nvSpPr>
          <p:cNvPr id="7" name="Text 4"/>
          <p:cNvSpPr/>
          <p:nvPr/>
        </p:nvSpPr>
        <p:spPr>
          <a:xfrm>
            <a:off x="8778240" y="2194560"/>
            <a:ext cx="2743200" cy="2377440"/>
          </a:xfrm>
          <a:prstGeom prst="rect">
            <a:avLst/>
          </a:prstGeom>
          <a:noFill/>
          <a:ln/>
        </p:spPr>
        <p:txBody>
          <a:bodyPr wrap="square" rtlCol="0" anchor="ctr"/>
          <a:lstStyle/>
          <a:p>
            <a:pPr indent="0" marL="0">
              <a:lnSpc>
                <a:spcPts val="1700"/>
              </a:lnSpc>
              <a:buNone/>
            </a:pPr>
            <a:r>
              <a:rPr lang="en-US" sz="1200" dirty="0">
                <a:solidFill>
                  <a:srgbClr val="1E2761"/>
                </a:solidFill>
                <a:latin typeface="Calibri" pitchFamily="34" charset="0"/>
                <a:ea typeface="Calibri" pitchFamily="34" charset="-122"/>
                <a:cs typeface="Calibri" pitchFamily="34" charset="-120"/>
              </a:rPr>
              <a:t>PPF and Mutual Funds post the lowest average ranks (2.02 and 2.55), signaling the strongest overall preference. Gold and Debentures rank highest on average (near 6), making them the least preferred instruments in this sample.</a:t>
            </a:r>
            <a:endParaRPr lang="en-US" sz="1200" dirty="0"/>
          </a:p>
        </p:txBody>
      </p:sp>
      <p:sp>
        <p:nvSpPr>
          <p:cNvPr id="8" name="Text 5"/>
          <p:cNvSpPr/>
          <p:nvPr/>
        </p:nvSpPr>
        <p:spPr>
          <a:xfrm>
            <a:off x="8778240" y="4663440"/>
            <a:ext cx="2743200" cy="914400"/>
          </a:xfrm>
          <a:prstGeom prst="rect">
            <a:avLst/>
          </a:prstGeom>
          <a:noFill/>
          <a:ln/>
        </p:spPr>
        <p:txBody>
          <a:bodyPr wrap="square" rtlCol="0" anchor="ctr"/>
          <a:lstStyle/>
          <a:p>
            <a:pPr indent="0" marL="0">
              <a:lnSpc>
                <a:spcPts val="1600"/>
              </a:lnSpc>
              <a:buNone/>
            </a:pPr>
            <a:r>
              <a:rPr lang="en-US" sz="1150" i="1" dirty="0">
                <a:solidFill>
                  <a:srgbClr val="6B7592"/>
                </a:solidFill>
                <a:latin typeface="Calibri" pitchFamily="34" charset="0"/>
                <a:ea typeface="Calibri" pitchFamily="34" charset="-122"/>
                <a:cs typeface="Calibri" pitchFamily="34" charset="-120"/>
              </a:rPr>
              <a:t>Sample skews young and working-age, averaging 27.8 years.</a:t>
            </a:r>
            <a:endParaRPr lang="en-US" sz="1150" dirty="0"/>
          </a:p>
        </p:txBody>
      </p:sp>
      <p:sp>
        <p:nvSpPr>
          <p:cNvPr id="9" name="Text 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0" name="Text 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Most Preferred Investment Avenue</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Which single avenue participants named as their top choice</a:t>
            </a:r>
            <a:endParaRPr lang="en-US" sz="1350" dirty="0"/>
          </a:p>
        </p:txBody>
      </p:sp>
      <p:pic>
        <p:nvPicPr>
          <p:cNvPr id="4" name="Image 0" descr="charts/02_avenue.png">    </p:cNvPr>
          <p:cNvPicPr>
            <a:picLocks noChangeAspect="1"/>
          </p:cNvPicPr>
          <p:nvPr/>
        </p:nvPicPr>
        <p:blipFill>
          <a:blip r:embed="rId1"/>
          <a:srcRect l="0" r="0" t="0" b="0"/>
          <a:stretch/>
        </p:blipFill>
        <p:spPr>
          <a:xfrm>
            <a:off x="457200" y="1691640"/>
            <a:ext cx="6949440" cy="4480560"/>
          </a:xfrm>
          <a:prstGeom prst="rect">
            <a:avLst/>
          </a:prstGeom>
        </p:spPr>
      </p:pic>
      <p:sp>
        <p:nvSpPr>
          <p:cNvPr id="5" name="Shape 2"/>
          <p:cNvSpPr/>
          <p:nvPr/>
        </p:nvSpPr>
        <p:spPr>
          <a:xfrm>
            <a:off x="7680960" y="1691640"/>
            <a:ext cx="3977640" cy="4480560"/>
          </a:xfrm>
          <a:prstGeom prst="roundRect">
            <a:avLst>
              <a:gd name="adj" fmla="val 1839"/>
            </a:avLst>
          </a:prstGeom>
          <a:solidFill>
            <a:srgbClr val="1E2761"/>
          </a:solidFill>
          <a:ln/>
        </p:spPr>
      </p:sp>
      <p:sp>
        <p:nvSpPr>
          <p:cNvPr id="6" name="Text 3"/>
          <p:cNvSpPr/>
          <p:nvPr/>
        </p:nvSpPr>
        <p:spPr>
          <a:xfrm>
            <a:off x="7955280" y="1965960"/>
            <a:ext cx="3474720" cy="914400"/>
          </a:xfrm>
          <a:prstGeom prst="rect">
            <a:avLst/>
          </a:prstGeom>
          <a:noFill/>
          <a:ln/>
        </p:spPr>
        <p:txBody>
          <a:bodyPr wrap="square" rtlCol="0" anchor="ctr"/>
          <a:lstStyle/>
          <a:p>
            <a:pPr indent="0" marL="0">
              <a:buNone/>
            </a:pPr>
            <a:r>
              <a:rPr lang="en-US" sz="4600" b="1" dirty="0">
                <a:solidFill>
                  <a:srgbClr val="D4A24C"/>
                </a:solidFill>
                <a:latin typeface="Cambria" pitchFamily="34" charset="0"/>
                <a:ea typeface="Cambria" pitchFamily="34" charset="-122"/>
                <a:cs typeface="Cambria" pitchFamily="34" charset="-120"/>
              </a:rPr>
              <a:t>45%</a:t>
            </a:r>
            <a:endParaRPr lang="en-US" sz="4600" dirty="0"/>
          </a:p>
        </p:txBody>
      </p:sp>
      <p:sp>
        <p:nvSpPr>
          <p:cNvPr id="7" name="Text 4"/>
          <p:cNvSpPr/>
          <p:nvPr/>
        </p:nvSpPr>
        <p:spPr>
          <a:xfrm>
            <a:off x="7955280" y="2880360"/>
            <a:ext cx="3474720" cy="1554480"/>
          </a:xfrm>
          <a:prstGeom prst="rect">
            <a:avLst/>
          </a:prstGeom>
          <a:noFill/>
          <a:ln/>
        </p:spPr>
        <p:txBody>
          <a:bodyPr wrap="square"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of participants named Mutual Funds as their most preferred investment avenue — the clear leader ahead of Equity (25%) and Fixed Deposits (22.5%).</a:t>
            </a:r>
            <a:endParaRPr lang="en-US" sz="1300" dirty="0"/>
          </a:p>
        </p:txBody>
      </p:sp>
      <p:sp>
        <p:nvSpPr>
          <p:cNvPr id="8" name="Text 5"/>
          <p:cNvSpPr/>
          <p:nvPr/>
        </p:nvSpPr>
        <p:spPr>
          <a:xfrm>
            <a:off x="7955280" y="4572000"/>
            <a:ext cx="3474720" cy="1463040"/>
          </a:xfrm>
          <a:prstGeom prst="rect">
            <a:avLst/>
          </a:prstGeom>
          <a:noFill/>
          <a:ln/>
        </p:spPr>
        <p:txBody>
          <a:bodyPr wrap="square" rtlCol="0" anchor="ctr"/>
          <a:lstStyle/>
          <a:p>
            <a:pPr indent="0" marL="0">
              <a:lnSpc>
                <a:spcPts val="1700"/>
              </a:lnSpc>
              <a:buNone/>
            </a:pPr>
            <a:r>
              <a:rPr lang="en-US" sz="1200" dirty="0">
                <a:solidFill>
                  <a:srgbClr val="CADCFC"/>
                </a:solidFill>
                <a:latin typeface="Calibri" pitchFamily="34" charset="0"/>
                <a:ea typeface="Calibri" pitchFamily="34" charset="-122"/>
                <a:cs typeface="Calibri" pitchFamily="34" charset="-120"/>
              </a:rPr>
              <a:t>Public Provident Fund trails as a top choice (7.5%) despite scoring well on average preference rank — suggesting it's a strong secondary pick rather than a first choice.</a:t>
            </a:r>
            <a:endParaRPr lang="en-US" sz="1200" dirty="0"/>
          </a:p>
        </p:txBody>
      </p:sp>
      <p:sp>
        <p:nvSpPr>
          <p:cNvPr id="9" name="Text 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0" name="Text 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Average Preference Rank by Instrument</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Cross-validating stated top choice against ranks across all 7 instruments</a:t>
            </a:r>
            <a:endParaRPr lang="en-US" sz="1350" dirty="0"/>
          </a:p>
        </p:txBody>
      </p:sp>
      <p:pic>
        <p:nvPicPr>
          <p:cNvPr id="4" name="Image 0" descr="charts/03_avgrank.png">    </p:cNvPr>
          <p:cNvPicPr>
            <a:picLocks noChangeAspect="1"/>
          </p:cNvPicPr>
          <p:nvPr/>
        </p:nvPicPr>
        <p:blipFill>
          <a:blip r:embed="rId1"/>
          <a:srcRect l="0" r="0" t="0" b="0"/>
          <a:stretch/>
        </p:blipFill>
        <p:spPr>
          <a:xfrm>
            <a:off x="457200" y="1691640"/>
            <a:ext cx="11247120" cy="4480560"/>
          </a:xfrm>
          <a:prstGeom prst="rect">
            <a:avLst/>
          </a:prstGeom>
        </p:spPr>
      </p:pic>
      <p:sp>
        <p:nvSpPr>
          <p:cNvPr id="5" name="Text 2"/>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6" name="Text 3"/>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Savings Objectives</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What participants are ultimately saving toward</a:t>
            </a:r>
            <a:endParaRPr lang="en-US" sz="1350" dirty="0"/>
          </a:p>
        </p:txBody>
      </p:sp>
      <p:pic>
        <p:nvPicPr>
          <p:cNvPr id="4" name="Image 0" descr="charts/04_savings.png">    </p:cNvPr>
          <p:cNvPicPr>
            <a:picLocks noChangeAspect="1"/>
          </p:cNvPicPr>
          <p:nvPr/>
        </p:nvPicPr>
        <p:blipFill>
          <a:blip r:embed="rId1"/>
          <a:srcRect l="0" r="0" t="0" b="0"/>
          <a:stretch/>
        </p:blipFill>
        <p:spPr>
          <a:xfrm>
            <a:off x="457200" y="1828800"/>
            <a:ext cx="6949440" cy="4206240"/>
          </a:xfrm>
          <a:prstGeom prst="rect">
            <a:avLst/>
          </a:prstGeom>
        </p:spPr>
      </p:pic>
      <p:sp>
        <p:nvSpPr>
          <p:cNvPr id="5" name="Text 2"/>
          <p:cNvSpPr/>
          <p:nvPr/>
        </p:nvSpPr>
        <p:spPr>
          <a:xfrm>
            <a:off x="7680960" y="1783080"/>
            <a:ext cx="365760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Breakdown</a:t>
            </a:r>
            <a:endParaRPr lang="en-US" sz="1300" dirty="0"/>
          </a:p>
        </p:txBody>
      </p:sp>
      <p:sp>
        <p:nvSpPr>
          <p:cNvPr id="6" name="Shape 3"/>
          <p:cNvSpPr/>
          <p:nvPr/>
        </p:nvSpPr>
        <p:spPr>
          <a:xfrm>
            <a:off x="7680960" y="2103120"/>
            <a:ext cx="3977640" cy="868680"/>
          </a:xfrm>
          <a:prstGeom prst="roundRect">
            <a:avLst>
              <a:gd name="adj" fmla="val 6316"/>
            </a:avLst>
          </a:prstGeom>
          <a:solidFill>
            <a:srgbClr val="1E2761"/>
          </a:solidFill>
          <a:ln/>
        </p:spPr>
      </p:sp>
      <p:sp>
        <p:nvSpPr>
          <p:cNvPr id="7" name="Text 4"/>
          <p:cNvSpPr/>
          <p:nvPr/>
        </p:nvSpPr>
        <p:spPr>
          <a:xfrm>
            <a:off x="7909560" y="2194560"/>
            <a:ext cx="237744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Retirement Plan</a:t>
            </a:r>
            <a:endParaRPr lang="en-US" sz="1350" dirty="0"/>
          </a:p>
        </p:txBody>
      </p:sp>
      <p:sp>
        <p:nvSpPr>
          <p:cNvPr id="8" name="Text 5"/>
          <p:cNvSpPr/>
          <p:nvPr/>
        </p:nvSpPr>
        <p:spPr>
          <a:xfrm>
            <a:off x="7909560" y="2542032"/>
            <a:ext cx="3566160" cy="32004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24 participants  •  60%</a:t>
            </a:r>
            <a:endParaRPr lang="en-US" sz="1100" dirty="0"/>
          </a:p>
        </p:txBody>
      </p:sp>
      <p:sp>
        <p:nvSpPr>
          <p:cNvPr id="9" name="Shape 6"/>
          <p:cNvSpPr/>
          <p:nvPr/>
        </p:nvSpPr>
        <p:spPr>
          <a:xfrm>
            <a:off x="7680960" y="3127248"/>
            <a:ext cx="3977640" cy="868680"/>
          </a:xfrm>
          <a:prstGeom prst="roundRect">
            <a:avLst>
              <a:gd name="adj" fmla="val 6316"/>
            </a:avLst>
          </a:prstGeom>
          <a:solidFill>
            <a:srgbClr val="F4F6FB"/>
          </a:solidFill>
          <a:ln/>
        </p:spPr>
      </p:sp>
      <p:sp>
        <p:nvSpPr>
          <p:cNvPr id="10" name="Text 7"/>
          <p:cNvSpPr/>
          <p:nvPr/>
        </p:nvSpPr>
        <p:spPr>
          <a:xfrm>
            <a:off x="7909560" y="3218688"/>
            <a:ext cx="237744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Health Care</a:t>
            </a:r>
            <a:endParaRPr lang="en-US" sz="1350" dirty="0"/>
          </a:p>
        </p:txBody>
      </p:sp>
      <p:sp>
        <p:nvSpPr>
          <p:cNvPr id="11" name="Text 8"/>
          <p:cNvSpPr/>
          <p:nvPr/>
        </p:nvSpPr>
        <p:spPr>
          <a:xfrm>
            <a:off x="7909560" y="3566160"/>
            <a:ext cx="3566160" cy="320040"/>
          </a:xfrm>
          <a:prstGeom prst="rect">
            <a:avLst/>
          </a:prstGeom>
          <a:noFill/>
          <a:ln/>
        </p:spPr>
        <p:txBody>
          <a:bodyPr wrap="square" rtlCol="0" anchor="ctr"/>
          <a:lstStyle/>
          <a:p>
            <a:pPr indent="0" marL="0">
              <a:buNone/>
            </a:pPr>
            <a:r>
              <a:rPr lang="en-US" sz="1100" dirty="0">
                <a:solidFill>
                  <a:srgbClr val="6B7592"/>
                </a:solidFill>
                <a:latin typeface="Calibri" pitchFamily="34" charset="0"/>
                <a:ea typeface="Calibri" pitchFamily="34" charset="-122"/>
                <a:cs typeface="Calibri" pitchFamily="34" charset="-120"/>
              </a:rPr>
              <a:t>13 participants  •  32.5%</a:t>
            </a:r>
            <a:endParaRPr lang="en-US" sz="1100" dirty="0"/>
          </a:p>
        </p:txBody>
      </p:sp>
      <p:sp>
        <p:nvSpPr>
          <p:cNvPr id="12" name="Shape 9"/>
          <p:cNvSpPr/>
          <p:nvPr/>
        </p:nvSpPr>
        <p:spPr>
          <a:xfrm>
            <a:off x="7680960" y="4151376"/>
            <a:ext cx="3977640" cy="868680"/>
          </a:xfrm>
          <a:prstGeom prst="roundRect">
            <a:avLst>
              <a:gd name="adj" fmla="val 6316"/>
            </a:avLst>
          </a:prstGeom>
          <a:solidFill>
            <a:srgbClr val="F4F6FB"/>
          </a:solidFill>
          <a:ln/>
        </p:spPr>
      </p:sp>
      <p:sp>
        <p:nvSpPr>
          <p:cNvPr id="13" name="Text 10"/>
          <p:cNvSpPr/>
          <p:nvPr/>
        </p:nvSpPr>
        <p:spPr>
          <a:xfrm>
            <a:off x="7909560" y="4242816"/>
            <a:ext cx="237744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Education</a:t>
            </a:r>
            <a:endParaRPr lang="en-US" sz="1350" dirty="0"/>
          </a:p>
        </p:txBody>
      </p:sp>
      <p:sp>
        <p:nvSpPr>
          <p:cNvPr id="14" name="Text 11"/>
          <p:cNvSpPr/>
          <p:nvPr/>
        </p:nvSpPr>
        <p:spPr>
          <a:xfrm>
            <a:off x="7909560" y="4590288"/>
            <a:ext cx="3566160" cy="320040"/>
          </a:xfrm>
          <a:prstGeom prst="rect">
            <a:avLst/>
          </a:prstGeom>
          <a:noFill/>
          <a:ln/>
        </p:spPr>
        <p:txBody>
          <a:bodyPr wrap="square" rtlCol="0" anchor="ctr"/>
          <a:lstStyle/>
          <a:p>
            <a:pPr indent="0" marL="0">
              <a:buNone/>
            </a:pPr>
            <a:r>
              <a:rPr lang="en-US" sz="1100" dirty="0">
                <a:solidFill>
                  <a:srgbClr val="6B7592"/>
                </a:solidFill>
                <a:latin typeface="Calibri" pitchFamily="34" charset="0"/>
                <a:ea typeface="Calibri" pitchFamily="34" charset="-122"/>
                <a:cs typeface="Calibri" pitchFamily="34" charset="-120"/>
              </a:rPr>
              <a:t>3 participants  •  7.5%</a:t>
            </a:r>
            <a:endParaRPr lang="en-US" sz="1100" dirty="0"/>
          </a:p>
        </p:txBody>
      </p:sp>
      <p:sp>
        <p:nvSpPr>
          <p:cNvPr id="15" name="Text 12"/>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6" name="Text 13"/>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Sources of Investment Information</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Where participants turn for advice and guidance</a:t>
            </a:r>
            <a:endParaRPr lang="en-US" sz="1350" dirty="0"/>
          </a:p>
        </p:txBody>
      </p:sp>
      <p:pic>
        <p:nvPicPr>
          <p:cNvPr id="4" name="Image 0" descr="charts/05_source.png">    </p:cNvPr>
          <p:cNvPicPr>
            <a:picLocks noChangeAspect="1"/>
          </p:cNvPicPr>
          <p:nvPr/>
        </p:nvPicPr>
        <p:blipFill>
          <a:blip r:embed="rId1"/>
          <a:srcRect l="0" r="0" t="0" b="0"/>
          <a:stretch/>
        </p:blipFill>
        <p:spPr>
          <a:xfrm>
            <a:off x="548640" y="1554480"/>
            <a:ext cx="5760720" cy="4937760"/>
          </a:xfrm>
          <a:prstGeom prst="rect">
            <a:avLst/>
          </a:prstGeom>
        </p:spPr>
      </p:pic>
      <p:sp>
        <p:nvSpPr>
          <p:cNvPr id="5" name="Text 2"/>
          <p:cNvSpPr/>
          <p:nvPr/>
        </p:nvSpPr>
        <p:spPr>
          <a:xfrm>
            <a:off x="6675120" y="1783080"/>
            <a:ext cx="320040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Financial Consultants</a:t>
            </a:r>
            <a:endParaRPr lang="en-US" sz="1300" dirty="0"/>
          </a:p>
        </p:txBody>
      </p:sp>
      <p:sp>
        <p:nvSpPr>
          <p:cNvPr id="6" name="Text 3"/>
          <p:cNvSpPr/>
          <p:nvPr/>
        </p:nvSpPr>
        <p:spPr>
          <a:xfrm>
            <a:off x="9966960" y="1783080"/>
            <a:ext cx="1645920" cy="292608"/>
          </a:xfrm>
          <a:prstGeom prst="rect">
            <a:avLst/>
          </a:prstGeom>
          <a:noFill/>
          <a:ln/>
        </p:spPr>
        <p:txBody>
          <a:bodyPr wrap="square" rtlCol="0" anchor="ctr"/>
          <a:lstStyle/>
          <a:p>
            <a:pPr algn="r" indent="0" marL="0">
              <a:buNone/>
            </a:pPr>
            <a:r>
              <a:rPr lang="en-US" sz="1300" b="1" dirty="0">
                <a:solidFill>
                  <a:srgbClr val="D4A24C"/>
                </a:solidFill>
                <a:latin typeface="Calibri" pitchFamily="34" charset="0"/>
                <a:ea typeface="Calibri" pitchFamily="34" charset="-122"/>
                <a:cs typeface="Calibri" pitchFamily="34" charset="-120"/>
              </a:rPr>
              <a:t>16  (40%)</a:t>
            </a:r>
            <a:endParaRPr lang="en-US" sz="1300" dirty="0"/>
          </a:p>
        </p:txBody>
      </p:sp>
      <p:sp>
        <p:nvSpPr>
          <p:cNvPr id="7" name="Text 4"/>
          <p:cNvSpPr/>
          <p:nvPr/>
        </p:nvSpPr>
        <p:spPr>
          <a:xfrm>
            <a:off x="6675120" y="2093976"/>
            <a:ext cx="4937760" cy="502920"/>
          </a:xfrm>
          <a:prstGeom prst="rect">
            <a:avLst/>
          </a:prstGeom>
          <a:noFill/>
          <a:ln/>
        </p:spPr>
        <p:txBody>
          <a:bodyPr wrap="square" rtlCol="0" anchor="ctr"/>
          <a:lstStyle/>
          <a:p>
            <a:pPr indent="0" marL="0">
              <a:lnSpc>
                <a:spcPts val="1400"/>
              </a:lnSpc>
              <a:buNone/>
            </a:pPr>
            <a:r>
              <a:rPr lang="en-US" sz="1080" dirty="0">
                <a:solidFill>
                  <a:srgbClr val="6B7592"/>
                </a:solidFill>
                <a:latin typeface="Calibri" pitchFamily="34" charset="0"/>
                <a:ea typeface="Calibri" pitchFamily="34" charset="-122"/>
                <a:cs typeface="Calibri" pitchFamily="34" charset="-120"/>
              </a:rPr>
              <a:t>Leading source — professional advice is the top touchpoint</a:t>
            </a:r>
            <a:endParaRPr lang="en-US" sz="1080" dirty="0"/>
          </a:p>
        </p:txBody>
      </p:sp>
      <p:sp>
        <p:nvSpPr>
          <p:cNvPr id="8" name="Text 5"/>
          <p:cNvSpPr/>
          <p:nvPr/>
        </p:nvSpPr>
        <p:spPr>
          <a:xfrm>
            <a:off x="6675120" y="2834640"/>
            <a:ext cx="320040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Newspapers &amp; Magazines</a:t>
            </a:r>
            <a:endParaRPr lang="en-US" sz="1300" dirty="0"/>
          </a:p>
        </p:txBody>
      </p:sp>
      <p:sp>
        <p:nvSpPr>
          <p:cNvPr id="9" name="Text 6"/>
          <p:cNvSpPr/>
          <p:nvPr/>
        </p:nvSpPr>
        <p:spPr>
          <a:xfrm>
            <a:off x="9966960" y="2834640"/>
            <a:ext cx="1645920" cy="292608"/>
          </a:xfrm>
          <a:prstGeom prst="rect">
            <a:avLst/>
          </a:prstGeom>
          <a:noFill/>
          <a:ln/>
        </p:spPr>
        <p:txBody>
          <a:bodyPr wrap="square" rtlCol="0" anchor="ctr"/>
          <a:lstStyle/>
          <a:p>
            <a:pPr algn="r" indent="0" marL="0">
              <a:buNone/>
            </a:pPr>
            <a:r>
              <a:rPr lang="en-US" sz="1300" b="1" dirty="0">
                <a:solidFill>
                  <a:srgbClr val="D4A24C"/>
                </a:solidFill>
                <a:latin typeface="Calibri" pitchFamily="34" charset="0"/>
                <a:ea typeface="Calibri" pitchFamily="34" charset="-122"/>
                <a:cs typeface="Calibri" pitchFamily="34" charset="-120"/>
              </a:rPr>
              <a:t>14  (35%)</a:t>
            </a:r>
            <a:endParaRPr lang="en-US" sz="1300" dirty="0"/>
          </a:p>
        </p:txBody>
      </p:sp>
      <p:sp>
        <p:nvSpPr>
          <p:cNvPr id="10" name="Text 7"/>
          <p:cNvSpPr/>
          <p:nvPr/>
        </p:nvSpPr>
        <p:spPr>
          <a:xfrm>
            <a:off x="6675120" y="3145536"/>
            <a:ext cx="4937760" cy="502920"/>
          </a:xfrm>
          <a:prstGeom prst="rect">
            <a:avLst/>
          </a:prstGeom>
          <a:noFill/>
          <a:ln/>
        </p:spPr>
        <p:txBody>
          <a:bodyPr wrap="square" rtlCol="0" anchor="ctr"/>
          <a:lstStyle/>
          <a:p>
            <a:pPr indent="0" marL="0">
              <a:lnSpc>
                <a:spcPts val="1400"/>
              </a:lnSpc>
              <a:buNone/>
            </a:pPr>
            <a:r>
              <a:rPr lang="en-US" sz="1080" dirty="0">
                <a:solidFill>
                  <a:srgbClr val="6B7592"/>
                </a:solidFill>
                <a:latin typeface="Calibri" pitchFamily="34" charset="0"/>
                <a:ea typeface="Calibri" pitchFamily="34" charset="-122"/>
                <a:cs typeface="Calibri" pitchFamily="34" charset="-120"/>
              </a:rPr>
              <a:t>Close second, showing print media still carries weight</a:t>
            </a:r>
            <a:endParaRPr lang="en-US" sz="1080" dirty="0"/>
          </a:p>
        </p:txBody>
      </p:sp>
      <p:sp>
        <p:nvSpPr>
          <p:cNvPr id="11" name="Text 8"/>
          <p:cNvSpPr/>
          <p:nvPr/>
        </p:nvSpPr>
        <p:spPr>
          <a:xfrm>
            <a:off x="6675120" y="3886200"/>
            <a:ext cx="320040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Television</a:t>
            </a:r>
            <a:endParaRPr lang="en-US" sz="1300" dirty="0"/>
          </a:p>
        </p:txBody>
      </p:sp>
      <p:sp>
        <p:nvSpPr>
          <p:cNvPr id="12" name="Text 9"/>
          <p:cNvSpPr/>
          <p:nvPr/>
        </p:nvSpPr>
        <p:spPr>
          <a:xfrm>
            <a:off x="9966960" y="3886200"/>
            <a:ext cx="1645920" cy="292608"/>
          </a:xfrm>
          <a:prstGeom prst="rect">
            <a:avLst/>
          </a:prstGeom>
          <a:noFill/>
          <a:ln/>
        </p:spPr>
        <p:txBody>
          <a:bodyPr wrap="square" rtlCol="0" anchor="ctr"/>
          <a:lstStyle/>
          <a:p>
            <a:pPr algn="r" indent="0" marL="0">
              <a:buNone/>
            </a:pPr>
            <a:r>
              <a:rPr lang="en-US" sz="1300" b="1" dirty="0">
                <a:solidFill>
                  <a:srgbClr val="D4A24C"/>
                </a:solidFill>
                <a:latin typeface="Calibri" pitchFamily="34" charset="0"/>
                <a:ea typeface="Calibri" pitchFamily="34" charset="-122"/>
                <a:cs typeface="Calibri" pitchFamily="34" charset="-120"/>
              </a:rPr>
              <a:t>6  (15%)</a:t>
            </a:r>
            <a:endParaRPr lang="en-US" sz="1300" dirty="0"/>
          </a:p>
        </p:txBody>
      </p:sp>
      <p:sp>
        <p:nvSpPr>
          <p:cNvPr id="13" name="Text 10"/>
          <p:cNvSpPr/>
          <p:nvPr/>
        </p:nvSpPr>
        <p:spPr>
          <a:xfrm>
            <a:off x="6675120" y="4197096"/>
            <a:ext cx="4937760" cy="502920"/>
          </a:xfrm>
          <a:prstGeom prst="rect">
            <a:avLst/>
          </a:prstGeom>
          <a:noFill/>
          <a:ln/>
        </p:spPr>
        <p:txBody>
          <a:bodyPr wrap="square" rtlCol="0" anchor="ctr"/>
          <a:lstStyle/>
          <a:p>
            <a:pPr indent="0" marL="0">
              <a:lnSpc>
                <a:spcPts val="1400"/>
              </a:lnSpc>
              <a:buNone/>
            </a:pPr>
            <a:r>
              <a:rPr lang="en-US" sz="1080" dirty="0">
                <a:solidFill>
                  <a:srgbClr val="6B7592"/>
                </a:solidFill>
                <a:latin typeface="Calibri" pitchFamily="34" charset="0"/>
                <a:ea typeface="Calibri" pitchFamily="34" charset="-122"/>
                <a:cs typeface="Calibri" pitchFamily="34" charset="-120"/>
              </a:rPr>
              <a:t>Moderate reach as a supporting channel</a:t>
            </a:r>
            <a:endParaRPr lang="en-US" sz="1080" dirty="0"/>
          </a:p>
        </p:txBody>
      </p:sp>
      <p:sp>
        <p:nvSpPr>
          <p:cNvPr id="14" name="Text 11"/>
          <p:cNvSpPr/>
          <p:nvPr/>
        </p:nvSpPr>
        <p:spPr>
          <a:xfrm>
            <a:off x="6675120" y="4937760"/>
            <a:ext cx="320040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Internet</a:t>
            </a:r>
            <a:endParaRPr lang="en-US" sz="1300" dirty="0"/>
          </a:p>
        </p:txBody>
      </p:sp>
      <p:sp>
        <p:nvSpPr>
          <p:cNvPr id="15" name="Text 12"/>
          <p:cNvSpPr/>
          <p:nvPr/>
        </p:nvSpPr>
        <p:spPr>
          <a:xfrm>
            <a:off x="9966960" y="4937760"/>
            <a:ext cx="1645920" cy="292608"/>
          </a:xfrm>
          <a:prstGeom prst="rect">
            <a:avLst/>
          </a:prstGeom>
          <a:noFill/>
          <a:ln/>
        </p:spPr>
        <p:txBody>
          <a:bodyPr wrap="square" rtlCol="0" anchor="ctr"/>
          <a:lstStyle/>
          <a:p>
            <a:pPr algn="r" indent="0" marL="0">
              <a:buNone/>
            </a:pPr>
            <a:r>
              <a:rPr lang="en-US" sz="1300" b="1" dirty="0">
                <a:solidFill>
                  <a:srgbClr val="D4A24C"/>
                </a:solidFill>
                <a:latin typeface="Calibri" pitchFamily="34" charset="0"/>
                <a:ea typeface="Calibri" pitchFamily="34" charset="-122"/>
                <a:cs typeface="Calibri" pitchFamily="34" charset="-120"/>
              </a:rPr>
              <a:t>4  (10%)</a:t>
            </a:r>
            <a:endParaRPr lang="en-US" sz="1300" dirty="0"/>
          </a:p>
        </p:txBody>
      </p:sp>
      <p:sp>
        <p:nvSpPr>
          <p:cNvPr id="16" name="Text 13"/>
          <p:cNvSpPr/>
          <p:nvPr/>
        </p:nvSpPr>
        <p:spPr>
          <a:xfrm>
            <a:off x="6675120" y="5248656"/>
            <a:ext cx="4937760" cy="502920"/>
          </a:xfrm>
          <a:prstGeom prst="rect">
            <a:avLst/>
          </a:prstGeom>
          <a:noFill/>
          <a:ln/>
        </p:spPr>
        <p:txBody>
          <a:bodyPr wrap="square" rtlCol="0" anchor="ctr"/>
          <a:lstStyle/>
          <a:p>
            <a:pPr indent="0" marL="0">
              <a:lnSpc>
                <a:spcPts val="1400"/>
              </a:lnSpc>
              <a:buNone/>
            </a:pPr>
            <a:r>
              <a:rPr lang="en-US" sz="1080" dirty="0">
                <a:solidFill>
                  <a:srgbClr val="6B7592"/>
                </a:solidFill>
                <a:latin typeface="Calibri" pitchFamily="34" charset="0"/>
                <a:ea typeface="Calibri" pitchFamily="34" charset="-122"/>
                <a:cs typeface="Calibri" pitchFamily="34" charset="-120"/>
              </a:rPr>
              <a:t>Smallest share — digital-first sources trail traditional ones</a:t>
            </a:r>
            <a:endParaRPr lang="en-US" sz="1080" dirty="0"/>
          </a:p>
        </p:txBody>
      </p:sp>
      <p:sp>
        <p:nvSpPr>
          <p:cNvPr id="17" name="Text 14"/>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8" name="Text 15"/>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Investment Duration</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How long participants typically hold their investments</a:t>
            </a:r>
            <a:endParaRPr lang="en-US" sz="1350" dirty="0"/>
          </a:p>
        </p:txBody>
      </p:sp>
      <p:pic>
        <p:nvPicPr>
          <p:cNvPr id="4" name="Image 0" descr="charts/06_duration.png">    </p:cNvPr>
          <p:cNvPicPr>
            <a:picLocks noChangeAspect="1"/>
          </p:cNvPicPr>
          <p:nvPr/>
        </p:nvPicPr>
        <p:blipFill>
          <a:blip r:embed="rId1"/>
          <a:srcRect l="0" r="0" t="0" b="0"/>
          <a:stretch/>
        </p:blipFill>
        <p:spPr>
          <a:xfrm>
            <a:off x="457200" y="1691640"/>
            <a:ext cx="7040880" cy="4480560"/>
          </a:xfrm>
          <a:prstGeom prst="rect">
            <a:avLst/>
          </a:prstGeom>
        </p:spPr>
      </p:pic>
      <p:sp>
        <p:nvSpPr>
          <p:cNvPr id="5" name="Shape 2"/>
          <p:cNvSpPr/>
          <p:nvPr/>
        </p:nvSpPr>
        <p:spPr>
          <a:xfrm>
            <a:off x="7772400" y="1691640"/>
            <a:ext cx="3886200" cy="4480560"/>
          </a:xfrm>
          <a:prstGeom prst="roundRect">
            <a:avLst>
              <a:gd name="adj" fmla="val 1882"/>
            </a:avLst>
          </a:prstGeom>
          <a:solidFill>
            <a:srgbClr val="F4F6FB"/>
          </a:solidFill>
          <a:ln/>
        </p:spPr>
      </p:sp>
      <p:sp>
        <p:nvSpPr>
          <p:cNvPr id="6" name="Text 3"/>
          <p:cNvSpPr/>
          <p:nvPr/>
        </p:nvSpPr>
        <p:spPr>
          <a:xfrm>
            <a:off x="8001000" y="1965960"/>
            <a:ext cx="342900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3–5 years</a:t>
            </a:r>
            <a:endParaRPr lang="en-US" sz="2600" dirty="0"/>
          </a:p>
        </p:txBody>
      </p:sp>
      <p:sp>
        <p:nvSpPr>
          <p:cNvPr id="7" name="Text 4"/>
          <p:cNvSpPr/>
          <p:nvPr/>
        </p:nvSpPr>
        <p:spPr>
          <a:xfrm>
            <a:off x="8001000" y="2606040"/>
            <a:ext cx="3429000" cy="1097280"/>
          </a:xfrm>
          <a:prstGeom prst="rect">
            <a:avLst/>
          </a:prstGeom>
          <a:noFill/>
          <a:ln/>
        </p:spPr>
        <p:txBody>
          <a:bodyPr wrap="square" rtlCol="0" anchor="ctr"/>
          <a:lstStyle/>
          <a:p>
            <a:pPr indent="0" marL="0">
              <a:lnSpc>
                <a:spcPts val="1800"/>
              </a:lnSpc>
              <a:buNone/>
            </a:pPr>
            <a:r>
              <a:rPr lang="en-US" sz="1300" dirty="0">
                <a:solidFill>
                  <a:srgbClr val="1E2761"/>
                </a:solidFill>
                <a:latin typeface="Calibri" pitchFamily="34" charset="0"/>
                <a:ea typeface="Calibri" pitchFamily="34" charset="-122"/>
                <a:cs typeface="Calibri" pitchFamily="34" charset="-120"/>
              </a:rPr>
              <a:t>is the most common holding period (19 of 40 participants), narrowly ahead of 1–3 years (18 participants).</a:t>
            </a:r>
            <a:endParaRPr lang="en-US" sz="1300" dirty="0"/>
          </a:p>
        </p:txBody>
      </p:sp>
      <p:sp>
        <p:nvSpPr>
          <p:cNvPr id="8" name="Text 5"/>
          <p:cNvSpPr/>
          <p:nvPr/>
        </p:nvSpPr>
        <p:spPr>
          <a:xfrm>
            <a:off x="8001000" y="3749040"/>
            <a:ext cx="3429000" cy="2194560"/>
          </a:xfrm>
          <a:prstGeom prst="rect">
            <a:avLst/>
          </a:prstGeom>
          <a:noFill/>
          <a:ln/>
        </p:spPr>
        <p:txBody>
          <a:bodyPr wrap="square" rtlCol="0" anchor="ctr"/>
          <a:lstStyle/>
          <a:p>
            <a:pPr indent="0" marL="0">
              <a:lnSpc>
                <a:spcPts val="1700"/>
              </a:lnSpc>
              <a:buNone/>
            </a:pPr>
            <a:r>
              <a:rPr lang="en-US" sz="1200" dirty="0">
                <a:solidFill>
                  <a:srgbClr val="6B7592"/>
                </a:solidFill>
                <a:latin typeface="Calibri" pitchFamily="34" charset="0"/>
                <a:ea typeface="Calibri" pitchFamily="34" charset="-122"/>
                <a:cs typeface="Calibri" pitchFamily="34" charset="-120"/>
              </a:rPr>
              <a:t>Together, the 1–5 year range covers 92.5% of the sample — very few participants commit to less than a year or more than five, indicating a medium-term investment horizon is the norm.</a:t>
            </a:r>
            <a:endParaRPr lang="en-US" sz="1200" dirty="0"/>
          </a:p>
        </p:txBody>
      </p:sp>
      <p:sp>
        <p:nvSpPr>
          <p:cNvPr id="9" name="Text 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0" name="Text 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Correlation Analysis</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Relationships between age, holding duration, and instrument preference ranks</a:t>
            </a:r>
            <a:endParaRPr lang="en-US" sz="1350" dirty="0"/>
          </a:p>
        </p:txBody>
      </p:sp>
      <p:pic>
        <p:nvPicPr>
          <p:cNvPr id="4" name="Image 0" descr="charts/07_corr.png">    </p:cNvPr>
          <p:cNvPicPr>
            <a:picLocks noChangeAspect="1"/>
          </p:cNvPicPr>
          <p:nvPr/>
        </p:nvPicPr>
        <p:blipFill>
          <a:blip r:embed="rId1"/>
          <a:srcRect l="0" r="0" t="0" b="0"/>
          <a:stretch/>
        </p:blipFill>
        <p:spPr>
          <a:xfrm>
            <a:off x="365760" y="1463040"/>
            <a:ext cx="6949440" cy="5120640"/>
          </a:xfrm>
          <a:prstGeom prst="rect">
            <a:avLst/>
          </a:prstGeom>
        </p:spPr>
      </p:pic>
      <p:sp>
        <p:nvSpPr>
          <p:cNvPr id="5" name="Shape 2"/>
          <p:cNvSpPr/>
          <p:nvPr/>
        </p:nvSpPr>
        <p:spPr>
          <a:xfrm>
            <a:off x="7635240" y="1901952"/>
            <a:ext cx="109728" cy="109728"/>
          </a:xfrm>
          <a:prstGeom prst="ellipse">
            <a:avLst/>
          </a:prstGeom>
          <a:solidFill>
            <a:srgbClr val="D4A24C"/>
          </a:solidFill>
          <a:ln/>
        </p:spPr>
      </p:sp>
      <p:sp>
        <p:nvSpPr>
          <p:cNvPr id="6" name="Text 3"/>
          <p:cNvSpPr/>
          <p:nvPr/>
        </p:nvSpPr>
        <p:spPr>
          <a:xfrm>
            <a:off x="7955280" y="1691640"/>
            <a:ext cx="3749040" cy="1371600"/>
          </a:xfrm>
          <a:prstGeom prst="rect">
            <a:avLst/>
          </a:prstGeom>
          <a:noFill/>
          <a:ln/>
        </p:spPr>
        <p:txBody>
          <a:bodyPr wrap="square" rtlCol="0" anchor="ctr"/>
          <a:lstStyle/>
          <a:p>
            <a:pPr indent="0" marL="0">
              <a:lnSpc>
                <a:spcPts val="1700"/>
              </a:lnSpc>
              <a:buNone/>
            </a:pPr>
            <a:r>
              <a:rPr lang="en-US" sz="1200" dirty="0">
                <a:solidFill>
                  <a:srgbClr val="1E2761"/>
                </a:solidFill>
                <a:latin typeface="Calibri" pitchFamily="34" charset="0"/>
                <a:ea typeface="Calibri" pitchFamily="34" charset="-122"/>
                <a:cs typeface="Calibri" pitchFamily="34" charset="-120"/>
              </a:rPr>
              <a:t>A negative correlation between two instruments reflects a genuine preference trade-off (favoring one over the other), not reduced popularity overall — ranks are relative, not independent scores.</a:t>
            </a:r>
            <a:endParaRPr lang="en-US" sz="1200" dirty="0"/>
          </a:p>
        </p:txBody>
      </p:sp>
      <p:sp>
        <p:nvSpPr>
          <p:cNvPr id="7" name="Shape 4"/>
          <p:cNvSpPr/>
          <p:nvPr/>
        </p:nvSpPr>
        <p:spPr>
          <a:xfrm>
            <a:off x="7635240" y="3502152"/>
            <a:ext cx="109728" cy="109728"/>
          </a:xfrm>
          <a:prstGeom prst="ellipse">
            <a:avLst/>
          </a:prstGeom>
          <a:solidFill>
            <a:srgbClr val="D4A24C"/>
          </a:solidFill>
          <a:ln/>
        </p:spPr>
      </p:sp>
      <p:sp>
        <p:nvSpPr>
          <p:cNvPr id="8" name="Text 5"/>
          <p:cNvSpPr/>
          <p:nvPr/>
        </p:nvSpPr>
        <p:spPr>
          <a:xfrm>
            <a:off x="7955280" y="3291840"/>
            <a:ext cx="3749040" cy="1371600"/>
          </a:xfrm>
          <a:prstGeom prst="rect">
            <a:avLst/>
          </a:prstGeom>
          <a:noFill/>
          <a:ln/>
        </p:spPr>
        <p:txBody>
          <a:bodyPr wrap="square" rtlCol="0" anchor="ctr"/>
          <a:lstStyle/>
          <a:p>
            <a:pPr indent="0" marL="0">
              <a:lnSpc>
                <a:spcPts val="1700"/>
              </a:lnSpc>
              <a:buNone/>
            </a:pPr>
            <a:r>
              <a:rPr lang="en-US" sz="1200" dirty="0">
                <a:solidFill>
                  <a:srgbClr val="1E2761"/>
                </a:solidFill>
                <a:latin typeface="Calibri" pitchFamily="34" charset="0"/>
                <a:ea typeface="Calibri" pitchFamily="34" charset="-122"/>
                <a:cs typeface="Calibri" pitchFamily="34" charset="-120"/>
              </a:rPr>
              <a:t>Age shows only a weak relationship with duration (r = 0.05) and with most preference ranks, suggesting instrument choice is driven more by individual risk appetite than by age alone.</a:t>
            </a:r>
            <a:endParaRPr lang="en-US" sz="1200" dirty="0"/>
          </a:p>
        </p:txBody>
      </p:sp>
      <p:sp>
        <p:nvSpPr>
          <p:cNvPr id="9" name="Shape 6"/>
          <p:cNvSpPr/>
          <p:nvPr/>
        </p:nvSpPr>
        <p:spPr>
          <a:xfrm>
            <a:off x="7635240" y="5102352"/>
            <a:ext cx="109728" cy="109728"/>
          </a:xfrm>
          <a:prstGeom prst="ellipse">
            <a:avLst/>
          </a:prstGeom>
          <a:solidFill>
            <a:srgbClr val="D4A24C"/>
          </a:solidFill>
          <a:ln/>
        </p:spPr>
      </p:sp>
      <p:sp>
        <p:nvSpPr>
          <p:cNvPr id="10" name="Text 7"/>
          <p:cNvSpPr/>
          <p:nvPr/>
        </p:nvSpPr>
        <p:spPr>
          <a:xfrm>
            <a:off x="7955280" y="4892040"/>
            <a:ext cx="3749040" cy="1371600"/>
          </a:xfrm>
          <a:prstGeom prst="rect">
            <a:avLst/>
          </a:prstGeom>
          <a:noFill/>
          <a:ln/>
        </p:spPr>
        <p:txBody>
          <a:bodyPr wrap="square" rtlCol="0" anchor="ctr"/>
          <a:lstStyle/>
          <a:p>
            <a:pPr indent="0" marL="0">
              <a:lnSpc>
                <a:spcPts val="1700"/>
              </a:lnSpc>
              <a:buNone/>
            </a:pPr>
            <a:r>
              <a:rPr lang="en-US" sz="1200" dirty="0">
                <a:solidFill>
                  <a:srgbClr val="1E2761"/>
                </a:solidFill>
                <a:latin typeface="Calibri" pitchFamily="34" charset="0"/>
                <a:ea typeface="Calibri" pitchFamily="34" charset="-122"/>
                <a:cs typeface="Calibri" pitchFamily="34" charset="-120"/>
              </a:rPr>
              <a:t>Equity preference strengthens somewhat with longer holding duration (r = 0.47), consistent with equity being viewed as a longer-horizon instrument.</a:t>
            </a:r>
            <a:endParaRPr lang="en-US" sz="1200" dirty="0"/>
          </a:p>
        </p:txBody>
      </p:sp>
      <p:sp>
        <p:nvSpPr>
          <p:cNvPr id="11" name="Text 8"/>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2" name="Text 9"/>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Reasons for Investment by Instrument</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What drives the choice of each instrument type</a:t>
            </a:r>
            <a:endParaRPr lang="en-US" sz="1350" dirty="0"/>
          </a:p>
        </p:txBody>
      </p:sp>
      <p:pic>
        <p:nvPicPr>
          <p:cNvPr id="4" name="Image 0" descr="charts/08_reasons.png">    </p:cNvPr>
          <p:cNvPicPr>
            <a:picLocks noChangeAspect="1"/>
          </p:cNvPicPr>
          <p:nvPr/>
        </p:nvPicPr>
        <p:blipFill>
          <a:blip r:embed="rId1"/>
          <a:srcRect l="0" r="0" t="0" b="0"/>
          <a:stretch/>
        </p:blipFill>
        <p:spPr>
          <a:xfrm>
            <a:off x="457200" y="1645920"/>
            <a:ext cx="11247120" cy="4297680"/>
          </a:xfrm>
          <a:prstGeom prst="rect">
            <a:avLst/>
          </a:prstGeom>
        </p:spPr>
      </p:pic>
      <p:sp>
        <p:nvSpPr>
          <p:cNvPr id="5" name="Text 2"/>
          <p:cNvSpPr/>
          <p:nvPr/>
        </p:nvSpPr>
        <p:spPr>
          <a:xfrm>
            <a:off x="548640" y="6080760"/>
            <a:ext cx="2743200" cy="320040"/>
          </a:xfrm>
          <a:prstGeom prst="rect">
            <a:avLst/>
          </a:prstGeom>
          <a:noFill/>
          <a:ln/>
        </p:spPr>
        <p:txBody>
          <a:bodyPr wrap="square" rtlCol="0" anchor="ctr"/>
          <a:lstStyle/>
          <a:p>
            <a:pPr algn="l" indent="0" marL="0">
              <a:buNone/>
            </a:pPr>
            <a:r>
              <a:rPr lang="en-US" sz="1100" b="1" dirty="0">
                <a:solidFill>
                  <a:srgbClr val="1E2761"/>
                </a:solidFill>
                <a:latin typeface="Calibri" pitchFamily="34" charset="0"/>
                <a:ea typeface="Calibri" pitchFamily="34" charset="-122"/>
                <a:cs typeface="Calibri" pitchFamily="34" charset="-120"/>
              </a:rPr>
              <a:t>Equity:  </a:t>
            </a:r>
            <a:pPr algn="l" indent="0" marL="0">
              <a:buNone/>
            </a:pPr>
            <a:r>
              <a:rPr lang="en-US" sz="1100" dirty="0">
                <a:solidFill>
                  <a:srgbClr val="6B7592"/>
                </a:solidFill>
                <a:latin typeface="Calibri" pitchFamily="34" charset="0"/>
                <a:ea typeface="Calibri" pitchFamily="34" charset="-122"/>
                <a:cs typeface="Calibri" pitchFamily="34" charset="-120"/>
              </a:rPr>
              <a:t>Capital Appreciation (30)</a:t>
            </a:r>
            <a:endParaRPr lang="en-US" sz="1100" dirty="0"/>
          </a:p>
        </p:txBody>
      </p:sp>
      <p:sp>
        <p:nvSpPr>
          <p:cNvPr id="6" name="Text 3"/>
          <p:cNvSpPr/>
          <p:nvPr/>
        </p:nvSpPr>
        <p:spPr>
          <a:xfrm>
            <a:off x="3383280" y="6080760"/>
            <a:ext cx="2743200" cy="320040"/>
          </a:xfrm>
          <a:prstGeom prst="rect">
            <a:avLst/>
          </a:prstGeom>
          <a:noFill/>
          <a:ln/>
        </p:spPr>
        <p:txBody>
          <a:bodyPr wrap="square" rtlCol="0" anchor="ctr"/>
          <a:lstStyle/>
          <a:p>
            <a:pPr algn="l" indent="0" marL="0">
              <a:buNone/>
            </a:pPr>
            <a:r>
              <a:rPr lang="en-US" sz="1100" b="1" dirty="0">
                <a:solidFill>
                  <a:srgbClr val="1E2761"/>
                </a:solidFill>
                <a:latin typeface="Calibri" pitchFamily="34" charset="0"/>
                <a:ea typeface="Calibri" pitchFamily="34" charset="-122"/>
                <a:cs typeface="Calibri" pitchFamily="34" charset="-120"/>
              </a:rPr>
              <a:t>Mutual Funds:  </a:t>
            </a:r>
            <a:pPr algn="l" indent="0" marL="0">
              <a:buNone/>
            </a:pPr>
            <a:r>
              <a:rPr lang="en-US" sz="1100" dirty="0">
                <a:solidFill>
                  <a:srgbClr val="6B7592"/>
                </a:solidFill>
                <a:latin typeface="Calibri" pitchFamily="34" charset="0"/>
                <a:ea typeface="Calibri" pitchFamily="34" charset="-122"/>
                <a:cs typeface="Calibri" pitchFamily="34" charset="-120"/>
              </a:rPr>
              <a:t>Better Returns (24)</a:t>
            </a:r>
            <a:endParaRPr lang="en-US" sz="1100" dirty="0"/>
          </a:p>
        </p:txBody>
      </p:sp>
      <p:sp>
        <p:nvSpPr>
          <p:cNvPr id="7" name="Text 4"/>
          <p:cNvSpPr/>
          <p:nvPr/>
        </p:nvSpPr>
        <p:spPr>
          <a:xfrm>
            <a:off x="6217920" y="6080760"/>
            <a:ext cx="2743200" cy="320040"/>
          </a:xfrm>
          <a:prstGeom prst="rect">
            <a:avLst/>
          </a:prstGeom>
          <a:noFill/>
          <a:ln/>
        </p:spPr>
        <p:txBody>
          <a:bodyPr wrap="square" rtlCol="0" anchor="ctr"/>
          <a:lstStyle/>
          <a:p>
            <a:pPr algn="l" indent="0" marL="0">
              <a:buNone/>
            </a:pPr>
            <a:r>
              <a:rPr lang="en-US" sz="1100" b="1" dirty="0">
                <a:solidFill>
                  <a:srgbClr val="1E2761"/>
                </a:solidFill>
                <a:latin typeface="Calibri" pitchFamily="34" charset="0"/>
                <a:ea typeface="Calibri" pitchFamily="34" charset="-122"/>
                <a:cs typeface="Calibri" pitchFamily="34" charset="-120"/>
              </a:rPr>
              <a:t>Bonds:  </a:t>
            </a:r>
            <a:pPr algn="l" indent="0" marL="0">
              <a:buNone/>
            </a:pPr>
            <a:r>
              <a:rPr lang="en-US" sz="1100" dirty="0">
                <a:solidFill>
                  <a:srgbClr val="6B7592"/>
                </a:solidFill>
                <a:latin typeface="Calibri" pitchFamily="34" charset="0"/>
                <a:ea typeface="Calibri" pitchFamily="34" charset="-122"/>
                <a:cs typeface="Calibri" pitchFamily="34" charset="-120"/>
              </a:rPr>
              <a:t>Assured Returns (26)</a:t>
            </a:r>
            <a:endParaRPr lang="en-US" sz="1100" dirty="0"/>
          </a:p>
        </p:txBody>
      </p:sp>
      <p:sp>
        <p:nvSpPr>
          <p:cNvPr id="8" name="Text 5"/>
          <p:cNvSpPr/>
          <p:nvPr/>
        </p:nvSpPr>
        <p:spPr>
          <a:xfrm>
            <a:off x="9052560" y="6080760"/>
            <a:ext cx="2743200" cy="320040"/>
          </a:xfrm>
          <a:prstGeom prst="rect">
            <a:avLst/>
          </a:prstGeom>
          <a:noFill/>
          <a:ln/>
        </p:spPr>
        <p:txBody>
          <a:bodyPr wrap="square" rtlCol="0" anchor="ctr"/>
          <a:lstStyle/>
          <a:p>
            <a:pPr algn="l" indent="0" marL="0">
              <a:buNone/>
            </a:pPr>
            <a:r>
              <a:rPr lang="en-US" sz="1100" b="1" dirty="0">
                <a:solidFill>
                  <a:srgbClr val="1E2761"/>
                </a:solidFill>
                <a:latin typeface="Calibri" pitchFamily="34" charset="0"/>
                <a:ea typeface="Calibri" pitchFamily="34" charset="-122"/>
                <a:cs typeface="Calibri" pitchFamily="34" charset="-120"/>
              </a:rPr>
              <a:t>Fixed Deposits:  </a:t>
            </a:r>
            <a:pPr algn="l" indent="0" marL="0">
              <a:buNone/>
            </a:pPr>
            <a:r>
              <a:rPr lang="en-US" sz="1100" dirty="0">
                <a:solidFill>
                  <a:srgbClr val="6B7592"/>
                </a:solidFill>
                <a:latin typeface="Calibri" pitchFamily="34" charset="0"/>
                <a:ea typeface="Calibri" pitchFamily="34" charset="-122"/>
                <a:cs typeface="Calibri" pitchFamily="34" charset="-120"/>
              </a:rPr>
              <a:t>Risk Free (19)</a:t>
            </a:r>
            <a:endParaRPr lang="en-US" sz="1100" dirty="0"/>
          </a:p>
        </p:txBody>
      </p:sp>
      <p:sp>
        <p:nvSpPr>
          <p:cNvPr id="9" name="Text 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0" name="Text 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Expected Returns from Investments</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What participants anticipate earning on their investments</a:t>
            </a:r>
            <a:endParaRPr lang="en-US" sz="1350" dirty="0"/>
          </a:p>
        </p:txBody>
      </p:sp>
      <p:pic>
        <p:nvPicPr>
          <p:cNvPr id="4" name="Image 0" descr="charts/09_expect.png">    </p:cNvPr>
          <p:cNvPicPr>
            <a:picLocks noChangeAspect="1"/>
          </p:cNvPicPr>
          <p:nvPr/>
        </p:nvPicPr>
        <p:blipFill>
          <a:blip r:embed="rId1"/>
          <a:srcRect l="0" r="0" t="0" b="0"/>
          <a:stretch/>
        </p:blipFill>
        <p:spPr>
          <a:xfrm>
            <a:off x="548640" y="1600200"/>
            <a:ext cx="5760720" cy="4937760"/>
          </a:xfrm>
          <a:prstGeom prst="rect">
            <a:avLst/>
          </a:prstGeom>
        </p:spPr>
      </p:pic>
      <p:sp>
        <p:nvSpPr>
          <p:cNvPr id="5" name="Shape 2"/>
          <p:cNvSpPr/>
          <p:nvPr/>
        </p:nvSpPr>
        <p:spPr>
          <a:xfrm>
            <a:off x="6675120" y="2103120"/>
            <a:ext cx="4937760" cy="2011680"/>
          </a:xfrm>
          <a:prstGeom prst="roundRect">
            <a:avLst>
              <a:gd name="adj" fmla="val 3636"/>
            </a:avLst>
          </a:prstGeom>
          <a:solidFill>
            <a:srgbClr val="1E2761"/>
          </a:solidFill>
          <a:ln/>
        </p:spPr>
      </p:sp>
      <p:sp>
        <p:nvSpPr>
          <p:cNvPr id="6" name="Text 3"/>
          <p:cNvSpPr/>
          <p:nvPr/>
        </p:nvSpPr>
        <p:spPr>
          <a:xfrm>
            <a:off x="6949440" y="2286000"/>
            <a:ext cx="1828800" cy="914400"/>
          </a:xfrm>
          <a:prstGeom prst="rect">
            <a:avLst/>
          </a:prstGeom>
          <a:noFill/>
          <a:ln/>
        </p:spPr>
        <p:txBody>
          <a:bodyPr wrap="square" rtlCol="0" anchor="ctr"/>
          <a:lstStyle/>
          <a:p>
            <a:pPr indent="0" marL="0">
              <a:buNone/>
            </a:pPr>
            <a:r>
              <a:rPr lang="en-US" sz="4200" b="1" dirty="0">
                <a:solidFill>
                  <a:srgbClr val="D4A24C"/>
                </a:solidFill>
                <a:latin typeface="Cambria" pitchFamily="34" charset="0"/>
                <a:ea typeface="Cambria" pitchFamily="34" charset="-122"/>
                <a:cs typeface="Cambria" pitchFamily="34" charset="-120"/>
              </a:rPr>
              <a:t>80%</a:t>
            </a:r>
            <a:endParaRPr lang="en-US" sz="4200" dirty="0"/>
          </a:p>
        </p:txBody>
      </p:sp>
      <p:sp>
        <p:nvSpPr>
          <p:cNvPr id="7" name="Text 4"/>
          <p:cNvSpPr/>
          <p:nvPr/>
        </p:nvSpPr>
        <p:spPr>
          <a:xfrm>
            <a:off x="8686800" y="2331720"/>
            <a:ext cx="2743200" cy="1737360"/>
          </a:xfrm>
          <a:prstGeom prst="rect">
            <a:avLst/>
          </a:prstGeom>
          <a:noFill/>
          <a:ln/>
        </p:spPr>
        <p:txBody>
          <a:bodyPr wrap="square"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of participants (32 of 40) expect returns of 20–30% — a notably optimistic and fairly concentrated expectation across the sample.</a:t>
            </a:r>
            <a:endParaRPr lang="en-US" sz="1250" dirty="0"/>
          </a:p>
        </p:txBody>
      </p:sp>
      <p:sp>
        <p:nvSpPr>
          <p:cNvPr id="8" name="Text 5"/>
          <p:cNvSpPr/>
          <p:nvPr/>
        </p:nvSpPr>
        <p:spPr>
          <a:xfrm>
            <a:off x="6675120" y="4434840"/>
            <a:ext cx="4937760" cy="1737360"/>
          </a:xfrm>
          <a:prstGeom prst="rect">
            <a:avLst/>
          </a:prstGeom>
          <a:noFill/>
          <a:ln/>
        </p:spPr>
        <p:txBody>
          <a:bodyPr wrap="square" rtlCol="0" anchor="ctr"/>
          <a:lstStyle/>
          <a:p>
            <a:pPr indent="0" marL="0">
              <a:lnSpc>
                <a:spcPts val="1700"/>
              </a:lnSpc>
              <a:buNone/>
            </a:pPr>
            <a:r>
              <a:rPr lang="en-US" sz="1200" dirty="0">
                <a:solidFill>
                  <a:srgbClr val="1E2761"/>
                </a:solidFill>
                <a:latin typeface="Calibri" pitchFamily="34" charset="0"/>
                <a:ea typeface="Calibri" pitchFamily="34" charset="-122"/>
                <a:cs typeface="Calibri" pitchFamily="34" charset="-120"/>
              </a:rPr>
              <a:t>Only 3 participants (7.5%) set more conservative expectations of 10–20%, while 5 (12.5%) expect an aggressive 30–40% — return expectations skew high relative to typical long-run market averages, which may warrant investor education on realistic benchmarks.</a:t>
            </a:r>
            <a:endParaRPr lang="en-US" sz="1200" dirty="0"/>
          </a:p>
        </p:txBody>
      </p:sp>
      <p:sp>
        <p:nvSpPr>
          <p:cNvPr id="9" name="Text 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10" name="Text 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Key Findings</a:t>
            </a:r>
            <a:endParaRPr lang="en-US" sz="3000" dirty="0"/>
          </a:p>
        </p:txBody>
      </p:sp>
      <p:sp>
        <p:nvSpPr>
          <p:cNvPr id="3" name="Text 1"/>
          <p:cNvSpPr/>
          <p:nvPr/>
        </p:nvSpPr>
        <p:spPr>
          <a:xfrm>
            <a:off x="548640" y="932688"/>
            <a:ext cx="11064240" cy="365760"/>
          </a:xfrm>
          <a:prstGeom prst="rect">
            <a:avLst/>
          </a:prstGeom>
          <a:noFill/>
          <a:ln/>
        </p:spPr>
        <p:txBody>
          <a:bodyPr wrap="square" rtlCol="0" anchor="ctr"/>
          <a:lstStyle/>
          <a:p>
            <a:pPr indent="0" marL="0">
              <a:buNone/>
            </a:pPr>
            <a:r>
              <a:rPr lang="en-US" sz="1350" i="1" dirty="0">
                <a:solidFill>
                  <a:srgbClr val="6B7592"/>
                </a:solidFill>
                <a:latin typeface="Calibri" pitchFamily="34" charset="0"/>
                <a:ea typeface="Calibri" pitchFamily="34" charset="-122"/>
                <a:cs typeface="Calibri" pitchFamily="34" charset="-120"/>
              </a:rPr>
              <a:t>Summary of insights across the analysis</a:t>
            </a:r>
            <a:endParaRPr lang="en-US" sz="1350" dirty="0"/>
          </a:p>
        </p:txBody>
      </p:sp>
      <p:sp>
        <p:nvSpPr>
          <p:cNvPr id="4" name="Shape 2"/>
          <p:cNvSpPr/>
          <p:nvPr/>
        </p:nvSpPr>
        <p:spPr>
          <a:xfrm>
            <a:off x="548640" y="1600200"/>
            <a:ext cx="5394960" cy="1298448"/>
          </a:xfrm>
          <a:prstGeom prst="roundRect">
            <a:avLst>
              <a:gd name="adj" fmla="val 5634"/>
            </a:avLst>
          </a:prstGeom>
          <a:solidFill>
            <a:srgbClr val="F4F6FB"/>
          </a:solidFill>
          <a:ln/>
        </p:spPr>
      </p:sp>
      <p:sp>
        <p:nvSpPr>
          <p:cNvPr id="5" name="Shape 3"/>
          <p:cNvSpPr/>
          <p:nvPr/>
        </p:nvSpPr>
        <p:spPr>
          <a:xfrm>
            <a:off x="749808" y="1801368"/>
            <a:ext cx="128016" cy="896112"/>
          </a:xfrm>
          <a:prstGeom prst="roundRect">
            <a:avLst>
              <a:gd name="adj" fmla="val 14286"/>
            </a:avLst>
          </a:prstGeom>
          <a:solidFill>
            <a:srgbClr val="D4A24C"/>
          </a:solidFill>
          <a:ln/>
        </p:spPr>
      </p:sp>
      <p:sp>
        <p:nvSpPr>
          <p:cNvPr id="6" name="Text 4"/>
          <p:cNvSpPr/>
          <p:nvPr/>
        </p:nvSpPr>
        <p:spPr>
          <a:xfrm>
            <a:off x="1051560" y="1737360"/>
            <a:ext cx="466344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Demographics</a:t>
            </a:r>
            <a:endParaRPr lang="en-US" sz="1350" dirty="0"/>
          </a:p>
        </p:txBody>
      </p:sp>
      <p:sp>
        <p:nvSpPr>
          <p:cNvPr id="7" name="Text 5"/>
          <p:cNvSpPr/>
          <p:nvPr/>
        </p:nvSpPr>
        <p:spPr>
          <a:xfrm>
            <a:off x="1051560" y="2075688"/>
            <a:ext cx="4663440" cy="731520"/>
          </a:xfrm>
          <a:prstGeom prst="rect">
            <a:avLst/>
          </a:prstGeom>
          <a:noFill/>
          <a:ln/>
        </p:spPr>
        <p:txBody>
          <a:bodyPr wrap="square" rtlCol="0" anchor="ctr"/>
          <a:lstStyle/>
          <a:p>
            <a:pPr indent="0" marL="0">
              <a:lnSpc>
                <a:spcPts val="1450"/>
              </a:lnSpc>
              <a:buNone/>
            </a:pPr>
            <a:r>
              <a:rPr lang="en-US" sz="1100" dirty="0">
                <a:solidFill>
                  <a:srgbClr val="6B7592"/>
                </a:solidFill>
                <a:latin typeface="Calibri" pitchFamily="34" charset="0"/>
                <a:ea typeface="Calibri" pitchFamily="34" charset="-122"/>
                <a:cs typeface="Calibri" pitchFamily="34" charset="-120"/>
              </a:rPr>
              <a:t>Sample skews male (62.5%) and young, averaging 27.8 years — a working-age, early-career profile.</a:t>
            </a:r>
            <a:endParaRPr lang="en-US" sz="1100" dirty="0"/>
          </a:p>
        </p:txBody>
      </p:sp>
      <p:sp>
        <p:nvSpPr>
          <p:cNvPr id="8" name="Shape 6"/>
          <p:cNvSpPr/>
          <p:nvPr/>
        </p:nvSpPr>
        <p:spPr>
          <a:xfrm>
            <a:off x="6263640" y="1600200"/>
            <a:ext cx="5394960" cy="1298448"/>
          </a:xfrm>
          <a:prstGeom prst="roundRect">
            <a:avLst>
              <a:gd name="adj" fmla="val 5634"/>
            </a:avLst>
          </a:prstGeom>
          <a:solidFill>
            <a:srgbClr val="F4F6FB"/>
          </a:solidFill>
          <a:ln/>
        </p:spPr>
      </p:sp>
      <p:sp>
        <p:nvSpPr>
          <p:cNvPr id="9" name="Shape 7"/>
          <p:cNvSpPr/>
          <p:nvPr/>
        </p:nvSpPr>
        <p:spPr>
          <a:xfrm>
            <a:off x="6464808" y="1801368"/>
            <a:ext cx="128016" cy="896112"/>
          </a:xfrm>
          <a:prstGeom prst="roundRect">
            <a:avLst>
              <a:gd name="adj" fmla="val 14286"/>
            </a:avLst>
          </a:prstGeom>
          <a:solidFill>
            <a:srgbClr val="D4A24C"/>
          </a:solidFill>
          <a:ln/>
        </p:spPr>
      </p:sp>
      <p:sp>
        <p:nvSpPr>
          <p:cNvPr id="10" name="Text 8"/>
          <p:cNvSpPr/>
          <p:nvPr/>
        </p:nvSpPr>
        <p:spPr>
          <a:xfrm>
            <a:off x="6766560" y="1737360"/>
            <a:ext cx="466344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Preferred Avenue</a:t>
            </a:r>
            <a:endParaRPr lang="en-US" sz="1350" dirty="0"/>
          </a:p>
        </p:txBody>
      </p:sp>
      <p:sp>
        <p:nvSpPr>
          <p:cNvPr id="11" name="Text 9"/>
          <p:cNvSpPr/>
          <p:nvPr/>
        </p:nvSpPr>
        <p:spPr>
          <a:xfrm>
            <a:off x="6766560" y="2075688"/>
            <a:ext cx="4663440" cy="731520"/>
          </a:xfrm>
          <a:prstGeom prst="rect">
            <a:avLst/>
          </a:prstGeom>
          <a:noFill/>
          <a:ln/>
        </p:spPr>
        <p:txBody>
          <a:bodyPr wrap="square" rtlCol="0" anchor="ctr"/>
          <a:lstStyle/>
          <a:p>
            <a:pPr indent="0" marL="0">
              <a:lnSpc>
                <a:spcPts val="1450"/>
              </a:lnSpc>
              <a:buNone/>
            </a:pPr>
            <a:r>
              <a:rPr lang="en-US" sz="1100" dirty="0">
                <a:solidFill>
                  <a:srgbClr val="6B7592"/>
                </a:solidFill>
                <a:latin typeface="Calibri" pitchFamily="34" charset="0"/>
                <a:ea typeface="Calibri" pitchFamily="34" charset="-122"/>
                <a:cs typeface="Calibri" pitchFamily="34" charset="-120"/>
              </a:rPr>
              <a:t>Mutual Funds lead as the top choice (45%), reinforced by the lowest average preference ranks alongside PPF.</a:t>
            </a:r>
            <a:endParaRPr lang="en-US" sz="1100" dirty="0"/>
          </a:p>
        </p:txBody>
      </p:sp>
      <p:sp>
        <p:nvSpPr>
          <p:cNvPr id="12" name="Shape 10"/>
          <p:cNvSpPr/>
          <p:nvPr/>
        </p:nvSpPr>
        <p:spPr>
          <a:xfrm>
            <a:off x="548640" y="3099816"/>
            <a:ext cx="5394960" cy="1298448"/>
          </a:xfrm>
          <a:prstGeom prst="roundRect">
            <a:avLst>
              <a:gd name="adj" fmla="val 5634"/>
            </a:avLst>
          </a:prstGeom>
          <a:solidFill>
            <a:srgbClr val="F4F6FB"/>
          </a:solidFill>
          <a:ln/>
        </p:spPr>
      </p:sp>
      <p:sp>
        <p:nvSpPr>
          <p:cNvPr id="13" name="Shape 11"/>
          <p:cNvSpPr/>
          <p:nvPr/>
        </p:nvSpPr>
        <p:spPr>
          <a:xfrm>
            <a:off x="749808" y="3300984"/>
            <a:ext cx="128016" cy="896112"/>
          </a:xfrm>
          <a:prstGeom prst="roundRect">
            <a:avLst>
              <a:gd name="adj" fmla="val 14286"/>
            </a:avLst>
          </a:prstGeom>
          <a:solidFill>
            <a:srgbClr val="D4A24C"/>
          </a:solidFill>
          <a:ln/>
        </p:spPr>
      </p:sp>
      <p:sp>
        <p:nvSpPr>
          <p:cNvPr id="14" name="Text 12"/>
          <p:cNvSpPr/>
          <p:nvPr/>
        </p:nvSpPr>
        <p:spPr>
          <a:xfrm>
            <a:off x="1051560" y="3236976"/>
            <a:ext cx="466344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Savings Objective</a:t>
            </a:r>
            <a:endParaRPr lang="en-US" sz="1350" dirty="0"/>
          </a:p>
        </p:txBody>
      </p:sp>
      <p:sp>
        <p:nvSpPr>
          <p:cNvPr id="15" name="Text 13"/>
          <p:cNvSpPr/>
          <p:nvPr/>
        </p:nvSpPr>
        <p:spPr>
          <a:xfrm>
            <a:off x="1051560" y="3575304"/>
            <a:ext cx="4663440" cy="731520"/>
          </a:xfrm>
          <a:prstGeom prst="rect">
            <a:avLst/>
          </a:prstGeom>
          <a:noFill/>
          <a:ln/>
        </p:spPr>
        <p:txBody>
          <a:bodyPr wrap="square" rtlCol="0" anchor="ctr"/>
          <a:lstStyle/>
          <a:p>
            <a:pPr indent="0" marL="0">
              <a:lnSpc>
                <a:spcPts val="1450"/>
              </a:lnSpc>
              <a:buNone/>
            </a:pPr>
            <a:r>
              <a:rPr lang="en-US" sz="1100" dirty="0">
                <a:solidFill>
                  <a:srgbClr val="6B7592"/>
                </a:solidFill>
                <a:latin typeface="Calibri" pitchFamily="34" charset="0"/>
                <a:ea typeface="Calibri" pitchFamily="34" charset="-122"/>
                <a:cs typeface="Calibri" pitchFamily="34" charset="-120"/>
              </a:rPr>
              <a:t>Retirement planning dominates (60%), followed by health care (32.5%) as the leading long-term priorities.</a:t>
            </a:r>
            <a:endParaRPr lang="en-US" sz="1100" dirty="0"/>
          </a:p>
        </p:txBody>
      </p:sp>
      <p:sp>
        <p:nvSpPr>
          <p:cNvPr id="16" name="Shape 14"/>
          <p:cNvSpPr/>
          <p:nvPr/>
        </p:nvSpPr>
        <p:spPr>
          <a:xfrm>
            <a:off x="6263640" y="3099816"/>
            <a:ext cx="5394960" cy="1298448"/>
          </a:xfrm>
          <a:prstGeom prst="roundRect">
            <a:avLst>
              <a:gd name="adj" fmla="val 5634"/>
            </a:avLst>
          </a:prstGeom>
          <a:solidFill>
            <a:srgbClr val="F4F6FB"/>
          </a:solidFill>
          <a:ln/>
        </p:spPr>
      </p:sp>
      <p:sp>
        <p:nvSpPr>
          <p:cNvPr id="17" name="Shape 15"/>
          <p:cNvSpPr/>
          <p:nvPr/>
        </p:nvSpPr>
        <p:spPr>
          <a:xfrm>
            <a:off x="6464808" y="3300984"/>
            <a:ext cx="128016" cy="896112"/>
          </a:xfrm>
          <a:prstGeom prst="roundRect">
            <a:avLst>
              <a:gd name="adj" fmla="val 14286"/>
            </a:avLst>
          </a:prstGeom>
          <a:solidFill>
            <a:srgbClr val="D4A24C"/>
          </a:solidFill>
          <a:ln/>
        </p:spPr>
      </p:sp>
      <p:sp>
        <p:nvSpPr>
          <p:cNvPr id="18" name="Text 16"/>
          <p:cNvSpPr/>
          <p:nvPr/>
        </p:nvSpPr>
        <p:spPr>
          <a:xfrm>
            <a:off x="6766560" y="3236976"/>
            <a:ext cx="466344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Information Source</a:t>
            </a:r>
            <a:endParaRPr lang="en-US" sz="1350" dirty="0"/>
          </a:p>
        </p:txBody>
      </p:sp>
      <p:sp>
        <p:nvSpPr>
          <p:cNvPr id="19" name="Text 17"/>
          <p:cNvSpPr/>
          <p:nvPr/>
        </p:nvSpPr>
        <p:spPr>
          <a:xfrm>
            <a:off x="6766560" y="3575304"/>
            <a:ext cx="4663440" cy="731520"/>
          </a:xfrm>
          <a:prstGeom prst="rect">
            <a:avLst/>
          </a:prstGeom>
          <a:noFill/>
          <a:ln/>
        </p:spPr>
        <p:txBody>
          <a:bodyPr wrap="square" rtlCol="0" anchor="ctr"/>
          <a:lstStyle/>
          <a:p>
            <a:pPr indent="0" marL="0">
              <a:lnSpc>
                <a:spcPts val="1450"/>
              </a:lnSpc>
              <a:buNone/>
            </a:pPr>
            <a:r>
              <a:rPr lang="en-US" sz="1100" dirty="0">
                <a:solidFill>
                  <a:srgbClr val="6B7592"/>
                </a:solidFill>
                <a:latin typeface="Calibri" pitchFamily="34" charset="0"/>
                <a:ea typeface="Calibri" pitchFamily="34" charset="-122"/>
                <a:cs typeface="Calibri" pitchFamily="34" charset="-120"/>
              </a:rPr>
              <a:t>Financial consultants (40%) and print media (35%) are trusted more than TV or internet sources.</a:t>
            </a:r>
            <a:endParaRPr lang="en-US" sz="1100" dirty="0"/>
          </a:p>
        </p:txBody>
      </p:sp>
      <p:sp>
        <p:nvSpPr>
          <p:cNvPr id="20" name="Shape 18"/>
          <p:cNvSpPr/>
          <p:nvPr/>
        </p:nvSpPr>
        <p:spPr>
          <a:xfrm>
            <a:off x="548640" y="4599432"/>
            <a:ext cx="5394960" cy="1298448"/>
          </a:xfrm>
          <a:prstGeom prst="roundRect">
            <a:avLst>
              <a:gd name="adj" fmla="val 5634"/>
            </a:avLst>
          </a:prstGeom>
          <a:solidFill>
            <a:srgbClr val="F4F6FB"/>
          </a:solidFill>
          <a:ln/>
        </p:spPr>
      </p:sp>
      <p:sp>
        <p:nvSpPr>
          <p:cNvPr id="21" name="Shape 19"/>
          <p:cNvSpPr/>
          <p:nvPr/>
        </p:nvSpPr>
        <p:spPr>
          <a:xfrm>
            <a:off x="749808" y="4800600"/>
            <a:ext cx="128016" cy="896112"/>
          </a:xfrm>
          <a:prstGeom prst="roundRect">
            <a:avLst>
              <a:gd name="adj" fmla="val 14286"/>
            </a:avLst>
          </a:prstGeom>
          <a:solidFill>
            <a:srgbClr val="D4A24C"/>
          </a:solidFill>
          <a:ln/>
        </p:spPr>
      </p:sp>
      <p:sp>
        <p:nvSpPr>
          <p:cNvPr id="22" name="Text 20"/>
          <p:cNvSpPr/>
          <p:nvPr/>
        </p:nvSpPr>
        <p:spPr>
          <a:xfrm>
            <a:off x="1051560" y="4736592"/>
            <a:ext cx="466344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Holding Duration</a:t>
            </a:r>
            <a:endParaRPr lang="en-US" sz="1350" dirty="0"/>
          </a:p>
        </p:txBody>
      </p:sp>
      <p:sp>
        <p:nvSpPr>
          <p:cNvPr id="23" name="Text 21"/>
          <p:cNvSpPr/>
          <p:nvPr/>
        </p:nvSpPr>
        <p:spPr>
          <a:xfrm>
            <a:off x="1051560" y="5074920"/>
            <a:ext cx="4663440" cy="731520"/>
          </a:xfrm>
          <a:prstGeom prst="rect">
            <a:avLst/>
          </a:prstGeom>
          <a:noFill/>
          <a:ln/>
        </p:spPr>
        <p:txBody>
          <a:bodyPr wrap="square" rtlCol="0" anchor="ctr"/>
          <a:lstStyle/>
          <a:p>
            <a:pPr indent="0" marL="0">
              <a:lnSpc>
                <a:spcPts val="1450"/>
              </a:lnSpc>
              <a:buNone/>
            </a:pPr>
            <a:r>
              <a:rPr lang="en-US" sz="1100" dirty="0">
                <a:solidFill>
                  <a:srgbClr val="6B7592"/>
                </a:solidFill>
                <a:latin typeface="Calibri" pitchFamily="34" charset="0"/>
                <a:ea typeface="Calibri" pitchFamily="34" charset="-122"/>
                <a:cs typeface="Calibri" pitchFamily="34" charset="-120"/>
              </a:rPr>
              <a:t>A medium-term horizon prevails — 92.5% hold investments for 1–5 years.</a:t>
            </a:r>
            <a:endParaRPr lang="en-US" sz="1100" dirty="0"/>
          </a:p>
        </p:txBody>
      </p:sp>
      <p:sp>
        <p:nvSpPr>
          <p:cNvPr id="24" name="Shape 22"/>
          <p:cNvSpPr/>
          <p:nvPr/>
        </p:nvSpPr>
        <p:spPr>
          <a:xfrm>
            <a:off x="6263640" y="4599432"/>
            <a:ext cx="5394960" cy="1298448"/>
          </a:xfrm>
          <a:prstGeom prst="roundRect">
            <a:avLst>
              <a:gd name="adj" fmla="val 5634"/>
            </a:avLst>
          </a:prstGeom>
          <a:solidFill>
            <a:srgbClr val="F4F6FB"/>
          </a:solidFill>
          <a:ln/>
        </p:spPr>
      </p:sp>
      <p:sp>
        <p:nvSpPr>
          <p:cNvPr id="25" name="Shape 23"/>
          <p:cNvSpPr/>
          <p:nvPr/>
        </p:nvSpPr>
        <p:spPr>
          <a:xfrm>
            <a:off x="6464808" y="4800600"/>
            <a:ext cx="128016" cy="896112"/>
          </a:xfrm>
          <a:prstGeom prst="roundRect">
            <a:avLst>
              <a:gd name="adj" fmla="val 14286"/>
            </a:avLst>
          </a:prstGeom>
          <a:solidFill>
            <a:srgbClr val="D4A24C"/>
          </a:solidFill>
          <a:ln/>
        </p:spPr>
      </p:sp>
      <p:sp>
        <p:nvSpPr>
          <p:cNvPr id="26" name="Text 24"/>
          <p:cNvSpPr/>
          <p:nvPr/>
        </p:nvSpPr>
        <p:spPr>
          <a:xfrm>
            <a:off x="6766560" y="4736592"/>
            <a:ext cx="466344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Return Expectations</a:t>
            </a:r>
            <a:endParaRPr lang="en-US" sz="1350" dirty="0"/>
          </a:p>
        </p:txBody>
      </p:sp>
      <p:sp>
        <p:nvSpPr>
          <p:cNvPr id="27" name="Text 25"/>
          <p:cNvSpPr/>
          <p:nvPr/>
        </p:nvSpPr>
        <p:spPr>
          <a:xfrm>
            <a:off x="6766560" y="5074920"/>
            <a:ext cx="4663440" cy="731520"/>
          </a:xfrm>
          <a:prstGeom prst="rect">
            <a:avLst/>
          </a:prstGeom>
          <a:noFill/>
          <a:ln/>
        </p:spPr>
        <p:txBody>
          <a:bodyPr wrap="square" rtlCol="0" anchor="ctr"/>
          <a:lstStyle/>
          <a:p>
            <a:pPr indent="0" marL="0">
              <a:lnSpc>
                <a:spcPts val="1450"/>
              </a:lnSpc>
              <a:buNone/>
            </a:pPr>
            <a:r>
              <a:rPr lang="en-US" sz="1100" dirty="0">
                <a:solidFill>
                  <a:srgbClr val="6B7592"/>
                </a:solidFill>
                <a:latin typeface="Calibri" pitchFamily="34" charset="0"/>
                <a:ea typeface="Calibri" pitchFamily="34" charset="-122"/>
                <a:cs typeface="Calibri" pitchFamily="34" charset="-120"/>
              </a:rPr>
              <a:t>80% expect 20–30% returns, an optimistic outlook that exceeds typical long-run market averages.</a:t>
            </a:r>
            <a:endParaRPr lang="en-US" sz="1100" dirty="0"/>
          </a:p>
        </p:txBody>
      </p:sp>
      <p:sp>
        <p:nvSpPr>
          <p:cNvPr id="28" name="Text 26"/>
          <p:cNvSpPr/>
          <p:nvPr/>
        </p:nvSpPr>
        <p:spPr>
          <a:xfrm>
            <a:off x="457200" y="6528816"/>
            <a:ext cx="6400800" cy="274320"/>
          </a:xfrm>
          <a:prstGeom prst="rect">
            <a:avLst/>
          </a:prstGeom>
          <a:noFill/>
          <a:ln/>
        </p:spPr>
        <p:txBody>
          <a:bodyPr wrap="square" rtlCol="0" anchor="ctr"/>
          <a:lstStyle/>
          <a:p>
            <a:pPr indent="0" marL="0">
              <a:buNone/>
            </a:pPr>
            <a:r>
              <a:rPr lang="en-US" sz="900" dirty="0">
                <a:solidFill>
                  <a:srgbClr val="6B7592"/>
                </a:solidFill>
                <a:latin typeface="Calibri" pitchFamily="34" charset="0"/>
                <a:ea typeface="Calibri" pitchFamily="34" charset="-122"/>
                <a:cs typeface="Calibri" pitchFamily="34" charset="-120"/>
              </a:rPr>
              <a:t>Investment Behavior &amp; Preference Analysis</a:t>
            </a:r>
            <a:endParaRPr lang="en-US" sz="900" dirty="0"/>
          </a:p>
        </p:txBody>
      </p:sp>
      <p:sp>
        <p:nvSpPr>
          <p:cNvPr id="29" name="Text 27"/>
          <p:cNvSpPr/>
          <p:nvPr/>
        </p:nvSpPr>
        <p:spPr>
          <a:xfrm>
            <a:off x="11274552" y="6528816"/>
            <a:ext cx="548640" cy="274320"/>
          </a:xfrm>
          <a:prstGeom prst="rect">
            <a:avLst/>
          </a:prstGeom>
          <a:noFill/>
          <a:ln/>
        </p:spPr>
        <p:txBody>
          <a:bodyPr wrap="square" rtlCol="0" anchor="ctr"/>
          <a:lstStyle/>
          <a:p>
            <a:pPr algn="r" indent="0" marL="0">
              <a:buNone/>
            </a:pPr>
            <a:r>
              <a:rPr lang="en-US" sz="900" dirty="0">
                <a:solidFill>
                  <a:srgbClr val="6B759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E2761">
              <a:alpha val="60000"/>
            </a:srgbClr>
          </a:solidFill>
          <a:ln/>
        </p:spPr>
      </p:sp>
      <p:sp>
        <p:nvSpPr>
          <p:cNvPr id="3" name="Shape 1"/>
          <p:cNvSpPr/>
          <p:nvPr/>
        </p:nvSpPr>
        <p:spPr>
          <a:xfrm>
            <a:off x="9144000" y="3657600"/>
            <a:ext cx="5486400" cy="5486400"/>
          </a:xfrm>
          <a:prstGeom prst="ellipse">
            <a:avLst/>
          </a:prstGeom>
          <a:solidFill>
            <a:srgbClr val="D4A24C">
              <a:alpha val="15000"/>
            </a:srgbClr>
          </a:solidFill>
          <a:ln/>
        </p:spPr>
      </p:sp>
      <p:sp>
        <p:nvSpPr>
          <p:cNvPr id="4" name="Text 2"/>
          <p:cNvSpPr/>
          <p:nvPr/>
        </p:nvSpPr>
        <p:spPr>
          <a:xfrm>
            <a:off x="731520" y="2651760"/>
            <a:ext cx="1005840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5" name="Text 3"/>
          <p:cNvSpPr/>
          <p:nvPr/>
        </p:nvSpPr>
        <p:spPr>
          <a:xfrm>
            <a:off x="731520" y="3520440"/>
            <a:ext cx="9601200" cy="4572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Investment Behavior &amp; Preference Analysis  —  Business Analytics Internship Project, Cognifyz Technologies</a:t>
            </a:r>
            <a:endParaRPr lang="en-US" sz="1400" dirty="0"/>
          </a:p>
        </p:txBody>
      </p:sp>
      <p:sp>
        <p:nvSpPr>
          <p:cNvPr id="6" name="Text 4"/>
          <p:cNvSpPr/>
          <p:nvPr/>
        </p:nvSpPr>
        <p:spPr>
          <a:xfrm>
            <a:off x="731520" y="4023360"/>
            <a:ext cx="9144000" cy="365760"/>
          </a:xfrm>
          <a:prstGeom prst="rect">
            <a:avLst/>
          </a:prstGeom>
          <a:noFill/>
          <a:ln/>
        </p:spPr>
        <p:txBody>
          <a:bodyPr wrap="square" rtlCol="0" anchor="ctr"/>
          <a:lstStyle/>
          <a:p>
            <a:pPr indent="0" marL="0">
              <a:buNone/>
            </a:pPr>
            <a:r>
              <a:rPr lang="en-US" sz="1150" i="1" dirty="0">
                <a:solidFill>
                  <a:srgbClr val="6B7592"/>
                </a:solidFill>
                <a:latin typeface="Calibri" pitchFamily="34" charset="0"/>
                <a:ea typeface="Calibri" pitchFamily="34" charset="-122"/>
                <a:cs typeface="Calibri" pitchFamily="34" charset="-120"/>
              </a:rPr>
              <a:t>Data source: Finance_data.csv (40 survey respondents)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2026-07-20T06:16:01Z</dcterms:created>
  <dcterms:modified xsi:type="dcterms:W3CDTF">2026-07-20T06:16:01Z</dcterms:modified>
</cp:coreProperties>
</file>